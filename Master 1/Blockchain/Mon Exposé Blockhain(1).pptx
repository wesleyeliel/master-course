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grandir Bold" charset="1" panose="00000800000000000000"/>
      <p:regular r:id="rId16"/>
    </p:embeddedFont>
    <p:embeddedFont>
      <p:font typeface="Agrandir"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2.gif" Type="http://schemas.openxmlformats.org/officeDocument/2006/relationships/image"/><Relationship Id="rId4" Target="../media/image3.gif"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gif" Type="http://schemas.openxmlformats.org/officeDocument/2006/relationships/image"/><Relationship Id="rId3" Target="../media/image7.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gif" Type="http://schemas.openxmlformats.org/officeDocument/2006/relationships/image"/><Relationship Id="rId9" Target="../media/image20.gif"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35.png" Type="http://schemas.openxmlformats.org/officeDocument/2006/relationships/image"/><Relationship Id="rId17" Target="../media/image36.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gif" Type="http://schemas.openxmlformats.org/officeDocument/2006/relationships/image"/><Relationship Id="rId3" Target="../media/image38.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37.gif" Type="http://schemas.openxmlformats.org/officeDocument/2006/relationships/image"/><Relationship Id="rId5" Target="../media/image41.jpeg" Type="http://schemas.openxmlformats.org/officeDocument/2006/relationships/image"/><Relationship Id="rId6" Target="../media/image4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gif" Type="http://schemas.openxmlformats.org/officeDocument/2006/relationships/image"/><Relationship Id="rId3" Target="../media/image44.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gif" Type="http://schemas.openxmlformats.org/officeDocument/2006/relationships/image"/><Relationship Id="rId3" Target="../media/image1.gif" Type="http://schemas.openxmlformats.org/officeDocument/2006/relationships/image"/><Relationship Id="rId4" Target="../media/image46.gif" Type="http://schemas.openxmlformats.org/officeDocument/2006/relationships/image"/><Relationship Id="rId5" Target="../media/image47.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5000"/>
          </a:blip>
          <a:srcRect l="0" t="0" r="0" b="0"/>
          <a:stretch>
            <a:fillRect/>
          </a:stretch>
        </p:blipFill>
        <p:spPr>
          <a:xfrm flipH="false" flipV="false" rot="-10800000">
            <a:off x="6333452" y="-1797179"/>
            <a:ext cx="15735219" cy="13881357"/>
          </a:xfrm>
          <a:prstGeom prst="rect">
            <a:avLst/>
          </a:prstGeom>
        </p:spPr>
      </p:pic>
      <p:grpSp>
        <p:nvGrpSpPr>
          <p:cNvPr name="Group 3" id="3"/>
          <p:cNvGrpSpPr/>
          <p:nvPr/>
        </p:nvGrpSpPr>
        <p:grpSpPr>
          <a:xfrm rot="0">
            <a:off x="3000871" y="4007533"/>
            <a:ext cx="12286259" cy="2271933"/>
            <a:chOff x="0" y="0"/>
            <a:chExt cx="16381678" cy="3029244"/>
          </a:xfrm>
        </p:grpSpPr>
        <p:sp>
          <p:nvSpPr>
            <p:cNvPr name="TextBox 4" id="4"/>
            <p:cNvSpPr txBox="true"/>
            <p:nvPr/>
          </p:nvSpPr>
          <p:spPr>
            <a:xfrm rot="0">
              <a:off x="0" y="-59690"/>
              <a:ext cx="16381678" cy="1990884"/>
            </a:xfrm>
            <a:prstGeom prst="rect">
              <a:avLst/>
            </a:prstGeom>
          </p:spPr>
          <p:txBody>
            <a:bodyPr anchor="t" rtlCol="false" tIns="0" lIns="0" bIns="0" rIns="0">
              <a:spAutoFit/>
            </a:bodyPr>
            <a:lstStyle/>
            <a:p>
              <a:pPr algn="ctr">
                <a:lnSpc>
                  <a:spcPts val="3739"/>
                </a:lnSpc>
              </a:pPr>
              <a:r>
                <a:rPr lang="en-US" sz="3399" b="true">
                  <a:solidFill>
                    <a:srgbClr val="2B2B2B"/>
                  </a:solidFill>
                  <a:latin typeface="Agrandir Bold"/>
                  <a:ea typeface="Agrandir Bold"/>
                  <a:cs typeface="Agrandir Bold"/>
                  <a:sym typeface="Agrandir Bold"/>
                </a:rPr>
                <a:t>Exploration des meilleures pratiques et des normes de sécurité pour le développement d’applications basées sur la blockchain. </a:t>
              </a:r>
            </a:p>
          </p:txBody>
        </p:sp>
        <p:sp>
          <p:nvSpPr>
            <p:cNvPr name="TextBox 5" id="5"/>
            <p:cNvSpPr txBox="true"/>
            <p:nvPr/>
          </p:nvSpPr>
          <p:spPr>
            <a:xfrm rot="0">
              <a:off x="0" y="2267316"/>
              <a:ext cx="16381678" cy="761929"/>
            </a:xfrm>
            <a:prstGeom prst="rect">
              <a:avLst/>
            </a:prstGeom>
          </p:spPr>
          <p:txBody>
            <a:bodyPr anchor="t" rtlCol="false" tIns="0" lIns="0" bIns="0" rIns="0">
              <a:spAutoFit/>
            </a:bodyPr>
            <a:lstStyle/>
            <a:p>
              <a:pPr algn="ctr">
                <a:lnSpc>
                  <a:spcPts val="4206"/>
                </a:lnSpc>
                <a:spcBef>
                  <a:spcPct val="0"/>
                </a:spcBef>
              </a:pPr>
              <a:r>
                <a:rPr lang="en-US" sz="3004">
                  <a:solidFill>
                    <a:srgbClr val="2B2B2B"/>
                  </a:solidFill>
                  <a:latin typeface="Agrandir"/>
                  <a:ea typeface="Agrandir"/>
                  <a:cs typeface="Agrandir"/>
                  <a:sym typeface="Agrandir"/>
                </a:rPr>
                <a:t>Groupe 11</a:t>
              </a:r>
            </a:p>
          </p:txBody>
        </p:sp>
      </p:grpSp>
      <p:pic>
        <p:nvPicPr>
          <p:cNvPr name="Picture 6" id="6"/>
          <p:cNvPicPr>
            <a:picLocks noChangeAspect="true"/>
          </p:cNvPicPr>
          <p:nvPr/>
        </p:nvPicPr>
        <p:blipFill>
          <a:blip r:embed="rId3">
            <a:alphaModFix amt="50000"/>
          </a:blip>
          <a:srcRect l="0" t="0" r="0" b="0"/>
          <a:stretch>
            <a:fillRect/>
          </a:stretch>
        </p:blipFill>
        <p:spPr>
          <a:xfrm flipH="false" flipV="false" rot="0">
            <a:off x="-2318726" y="-376453"/>
            <a:ext cx="9743013" cy="1709948"/>
          </a:xfrm>
          <a:prstGeom prst="rect">
            <a:avLst/>
          </a:prstGeom>
        </p:spPr>
      </p:pic>
      <p:pic>
        <p:nvPicPr>
          <p:cNvPr name="Picture 7" id="7"/>
          <p:cNvPicPr>
            <a:picLocks noChangeAspect="true"/>
          </p:cNvPicPr>
          <p:nvPr/>
        </p:nvPicPr>
        <p:blipFill>
          <a:blip r:embed="rId4">
            <a:alphaModFix amt="25000"/>
          </a:blip>
          <a:srcRect l="0" t="0" r="0" b="0"/>
          <a:stretch>
            <a:fillRect/>
          </a:stretch>
        </p:blipFill>
        <p:spPr>
          <a:xfrm flipH="false" flipV="false" rot="-7199120">
            <a:off x="-2896988" y="-1002021"/>
            <a:ext cx="5793977" cy="5895448"/>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E4E3"/>
        </a:solidFill>
      </p:bgPr>
    </p:bg>
    <p:spTree>
      <p:nvGrpSpPr>
        <p:cNvPr id="1" name=""/>
        <p:cNvGrpSpPr/>
        <p:nvPr/>
      </p:nvGrpSpPr>
      <p:grpSpPr>
        <a:xfrm>
          <a:off x="0" y="0"/>
          <a:ext cx="0" cy="0"/>
          <a:chOff x="0" y="0"/>
          <a:chExt cx="0" cy="0"/>
        </a:xfrm>
      </p:grpSpPr>
      <p:grpSp>
        <p:nvGrpSpPr>
          <p:cNvPr name="Group 2" id="2"/>
          <p:cNvGrpSpPr/>
          <p:nvPr/>
        </p:nvGrpSpPr>
        <p:grpSpPr>
          <a:xfrm rot="0">
            <a:off x="1028700" y="4265269"/>
            <a:ext cx="6780460" cy="1756461"/>
            <a:chOff x="0" y="0"/>
            <a:chExt cx="9040614" cy="2341948"/>
          </a:xfrm>
        </p:grpSpPr>
        <p:sp>
          <p:nvSpPr>
            <p:cNvPr name="TextBox 3" id="3"/>
            <p:cNvSpPr txBox="true"/>
            <p:nvPr/>
          </p:nvSpPr>
          <p:spPr>
            <a:xfrm rot="0">
              <a:off x="0" y="-190500"/>
              <a:ext cx="9040614" cy="1600288"/>
            </a:xfrm>
            <a:prstGeom prst="rect">
              <a:avLst/>
            </a:prstGeom>
          </p:spPr>
          <p:txBody>
            <a:bodyPr anchor="t" rtlCol="false" tIns="0" lIns="0" bIns="0" rIns="0">
              <a:spAutoFit/>
            </a:bodyPr>
            <a:lstStyle/>
            <a:p>
              <a:pPr algn="l" marL="0" indent="0" lvl="0">
                <a:lnSpc>
                  <a:spcPts val="8399"/>
                </a:lnSpc>
                <a:spcBef>
                  <a:spcPct val="0"/>
                </a:spcBef>
              </a:pPr>
              <a:r>
                <a:rPr lang="en-US" sz="6999">
                  <a:solidFill>
                    <a:srgbClr val="2B2B2B"/>
                  </a:solidFill>
                  <a:latin typeface="Agrandir"/>
                  <a:ea typeface="Agrandir"/>
                  <a:cs typeface="Agrandir"/>
                  <a:sym typeface="Agrandir"/>
                </a:rPr>
                <a:t>Plan </a:t>
              </a:r>
            </a:p>
          </p:txBody>
        </p:sp>
        <p:sp>
          <p:nvSpPr>
            <p:cNvPr name="TextBox 4" id="4"/>
            <p:cNvSpPr txBox="true"/>
            <p:nvPr/>
          </p:nvSpPr>
          <p:spPr>
            <a:xfrm rot="0">
              <a:off x="0" y="1652595"/>
              <a:ext cx="9040614" cy="689354"/>
            </a:xfrm>
            <a:prstGeom prst="rect">
              <a:avLst/>
            </a:prstGeom>
          </p:spPr>
          <p:txBody>
            <a:bodyPr anchor="t" rtlCol="false" tIns="0" lIns="0" bIns="0" rIns="0">
              <a:spAutoFit/>
            </a:bodyPr>
            <a:lstStyle/>
            <a:p>
              <a:pPr algn="l" marL="0" indent="0" lvl="0">
                <a:lnSpc>
                  <a:spcPts val="3920"/>
                </a:lnSpc>
                <a:spcBef>
                  <a:spcPct val="0"/>
                </a:spcBef>
              </a:pPr>
              <a:r>
                <a:rPr lang="en-US" sz="2800">
                  <a:solidFill>
                    <a:srgbClr val="2B2B2B"/>
                  </a:solidFill>
                  <a:latin typeface="Agrandir"/>
                  <a:ea typeface="Agrandir"/>
                  <a:cs typeface="Agrandir"/>
                  <a:sym typeface="Agrandir"/>
                </a:rPr>
                <a:t>Les points importants</a:t>
              </a:r>
            </a:p>
          </p:txBody>
        </p:sp>
      </p:grpSp>
      <p:grpSp>
        <p:nvGrpSpPr>
          <p:cNvPr name="Group 5" id="5"/>
          <p:cNvGrpSpPr/>
          <p:nvPr/>
        </p:nvGrpSpPr>
        <p:grpSpPr>
          <a:xfrm rot="0">
            <a:off x="9809000" y="819745"/>
            <a:ext cx="6907145" cy="868440"/>
            <a:chOff x="0" y="0"/>
            <a:chExt cx="9209527" cy="1157920"/>
          </a:xfrm>
        </p:grpSpPr>
        <p:sp>
          <p:nvSpPr>
            <p:cNvPr name="Freeform 6" id="6"/>
            <p:cNvSpPr/>
            <p:nvPr/>
          </p:nvSpPr>
          <p:spPr>
            <a:xfrm flipH="false" flipV="false" rot="0">
              <a:off x="0" y="0"/>
              <a:ext cx="1124235" cy="1157920"/>
            </a:xfrm>
            <a:custGeom>
              <a:avLst/>
              <a:gdLst/>
              <a:ahLst/>
              <a:cxnLst/>
              <a:rect r="r" b="b" t="t" l="l"/>
              <a:pathLst>
                <a:path h="1157920" w="1124235">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634311" y="147159"/>
              <a:ext cx="7575216" cy="730251"/>
            </a:xfrm>
            <a:prstGeom prst="rect">
              <a:avLst/>
            </a:prstGeom>
          </p:spPr>
          <p:txBody>
            <a:bodyPr anchor="t" rtlCol="false" tIns="0" lIns="0" bIns="0" rIns="0">
              <a:spAutoFit/>
            </a:bodyPr>
            <a:lstStyle/>
            <a:p>
              <a:pPr algn="l">
                <a:lnSpc>
                  <a:spcPts val="4199"/>
                </a:lnSpc>
              </a:pPr>
              <a:r>
                <a:rPr lang="en-US" sz="2999">
                  <a:solidFill>
                    <a:srgbClr val="2B2B2B"/>
                  </a:solidFill>
                  <a:latin typeface="Agrandir"/>
                  <a:ea typeface="Agrandir"/>
                  <a:cs typeface="Agrandir"/>
                  <a:sym typeface="Agrandir"/>
                </a:rPr>
                <a:t>Introduction </a:t>
              </a:r>
            </a:p>
          </p:txBody>
        </p:sp>
        <p:sp>
          <p:nvSpPr>
            <p:cNvPr name="TextBox 8" id="8"/>
            <p:cNvSpPr txBox="true"/>
            <p:nvPr/>
          </p:nvSpPr>
          <p:spPr>
            <a:xfrm rot="0">
              <a:off x="351305" y="370892"/>
              <a:ext cx="421625" cy="349462"/>
            </a:xfrm>
            <a:prstGeom prst="rect">
              <a:avLst/>
            </a:prstGeom>
          </p:spPr>
          <p:txBody>
            <a:bodyPr anchor="t" rtlCol="false" tIns="0" lIns="0" bIns="0" rIns="0">
              <a:spAutoFit/>
            </a:bodyPr>
            <a:lstStyle/>
            <a:p>
              <a:pPr algn="ctr">
                <a:lnSpc>
                  <a:spcPts val="1960"/>
                </a:lnSpc>
              </a:pPr>
              <a:r>
                <a:rPr lang="en-US" b="true" sz="1400">
                  <a:solidFill>
                    <a:srgbClr val="2B2B2B"/>
                  </a:solidFill>
                  <a:latin typeface="Agrandir Bold"/>
                  <a:ea typeface="Agrandir Bold"/>
                  <a:cs typeface="Agrandir Bold"/>
                  <a:sym typeface="Agrandir Bold"/>
                </a:rPr>
                <a:t>1</a:t>
              </a:r>
            </a:p>
          </p:txBody>
        </p:sp>
      </p:grpSp>
      <p:grpSp>
        <p:nvGrpSpPr>
          <p:cNvPr name="Group 9" id="9"/>
          <p:cNvGrpSpPr/>
          <p:nvPr/>
        </p:nvGrpSpPr>
        <p:grpSpPr>
          <a:xfrm rot="0">
            <a:off x="9809000" y="2183485"/>
            <a:ext cx="6907145" cy="971551"/>
            <a:chOff x="0" y="0"/>
            <a:chExt cx="9209527" cy="1295401"/>
          </a:xfrm>
        </p:grpSpPr>
        <p:sp>
          <p:nvSpPr>
            <p:cNvPr name="TextBox 10" id="10"/>
            <p:cNvSpPr txBox="true"/>
            <p:nvPr/>
          </p:nvSpPr>
          <p:spPr>
            <a:xfrm rot="0">
              <a:off x="1634311" y="-133350"/>
              <a:ext cx="7575216" cy="1428751"/>
            </a:xfrm>
            <a:prstGeom prst="rect">
              <a:avLst/>
            </a:prstGeom>
          </p:spPr>
          <p:txBody>
            <a:bodyPr anchor="t" rtlCol="false" tIns="0" lIns="0" bIns="0" rIns="0">
              <a:spAutoFit/>
            </a:bodyPr>
            <a:lstStyle/>
            <a:p>
              <a:pPr algn="l">
                <a:lnSpc>
                  <a:spcPts val="4199"/>
                </a:lnSpc>
              </a:pPr>
              <a:r>
                <a:rPr lang="en-US" sz="2999">
                  <a:solidFill>
                    <a:srgbClr val="2B2B2B"/>
                  </a:solidFill>
                  <a:latin typeface="Agrandir"/>
                  <a:ea typeface="Agrandir"/>
                  <a:cs typeface="Agrandir"/>
                  <a:sym typeface="Agrandir"/>
                </a:rPr>
                <a:t>Technologies adaptées pour le développement des dApps</a:t>
              </a:r>
            </a:p>
          </p:txBody>
        </p:sp>
        <p:sp>
          <p:nvSpPr>
            <p:cNvPr name="Freeform 11" id="11"/>
            <p:cNvSpPr/>
            <p:nvPr/>
          </p:nvSpPr>
          <p:spPr>
            <a:xfrm flipH="false" flipV="false" rot="0">
              <a:off x="0" y="68741"/>
              <a:ext cx="1124235" cy="1157920"/>
            </a:xfrm>
            <a:custGeom>
              <a:avLst/>
              <a:gdLst/>
              <a:ahLst/>
              <a:cxnLst/>
              <a:rect r="r" b="b" t="t" l="l"/>
              <a:pathLst>
                <a:path h="1157920" w="1124235">
                  <a:moveTo>
                    <a:pt x="0" y="0"/>
                  </a:moveTo>
                  <a:lnTo>
                    <a:pt x="1124235" y="0"/>
                  </a:lnTo>
                  <a:lnTo>
                    <a:pt x="1124235" y="1157919"/>
                  </a:lnTo>
                  <a:lnTo>
                    <a:pt x="0" y="1157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51305" y="439632"/>
              <a:ext cx="421625" cy="349462"/>
            </a:xfrm>
            <a:prstGeom prst="rect">
              <a:avLst/>
            </a:prstGeom>
          </p:spPr>
          <p:txBody>
            <a:bodyPr anchor="t" rtlCol="false" tIns="0" lIns="0" bIns="0" rIns="0">
              <a:spAutoFit/>
            </a:bodyPr>
            <a:lstStyle/>
            <a:p>
              <a:pPr algn="ctr">
                <a:lnSpc>
                  <a:spcPts val="1960"/>
                </a:lnSpc>
              </a:pPr>
              <a:r>
                <a:rPr lang="en-US" b="true" sz="1400">
                  <a:solidFill>
                    <a:srgbClr val="2B2B2B"/>
                  </a:solidFill>
                  <a:latin typeface="Agrandir Bold"/>
                  <a:ea typeface="Agrandir Bold"/>
                  <a:cs typeface="Agrandir Bold"/>
                  <a:sym typeface="Agrandir Bold"/>
                </a:rPr>
                <a:t>2</a:t>
              </a:r>
            </a:p>
          </p:txBody>
        </p:sp>
      </p:grpSp>
      <p:grpSp>
        <p:nvGrpSpPr>
          <p:cNvPr name="Group 13" id="13"/>
          <p:cNvGrpSpPr/>
          <p:nvPr/>
        </p:nvGrpSpPr>
        <p:grpSpPr>
          <a:xfrm rot="0">
            <a:off x="9809000" y="3650336"/>
            <a:ext cx="6907145" cy="971551"/>
            <a:chOff x="0" y="0"/>
            <a:chExt cx="9209527" cy="1295401"/>
          </a:xfrm>
        </p:grpSpPr>
        <p:sp>
          <p:nvSpPr>
            <p:cNvPr name="TextBox 14" id="14"/>
            <p:cNvSpPr txBox="true"/>
            <p:nvPr/>
          </p:nvSpPr>
          <p:spPr>
            <a:xfrm rot="0">
              <a:off x="1634311" y="-133350"/>
              <a:ext cx="7575216" cy="1428751"/>
            </a:xfrm>
            <a:prstGeom prst="rect">
              <a:avLst/>
            </a:prstGeom>
          </p:spPr>
          <p:txBody>
            <a:bodyPr anchor="t" rtlCol="false" tIns="0" lIns="0" bIns="0" rIns="0">
              <a:spAutoFit/>
            </a:bodyPr>
            <a:lstStyle/>
            <a:p>
              <a:pPr algn="l">
                <a:lnSpc>
                  <a:spcPts val="4199"/>
                </a:lnSpc>
              </a:pPr>
              <a:r>
                <a:rPr lang="en-US" sz="2999">
                  <a:solidFill>
                    <a:srgbClr val="2B2B2B"/>
                  </a:solidFill>
                  <a:latin typeface="Agrandir"/>
                  <a:ea typeface="Agrandir"/>
                  <a:cs typeface="Agrandir"/>
                  <a:sym typeface="Agrandir"/>
                </a:rPr>
                <a:t>Enjeux et défis de sécurité dans les dApps</a:t>
              </a:r>
            </a:p>
          </p:txBody>
        </p:sp>
        <p:sp>
          <p:nvSpPr>
            <p:cNvPr name="Freeform 15" id="15"/>
            <p:cNvSpPr/>
            <p:nvPr/>
          </p:nvSpPr>
          <p:spPr>
            <a:xfrm flipH="false" flipV="false" rot="0">
              <a:off x="0" y="68741"/>
              <a:ext cx="1124235" cy="1157920"/>
            </a:xfrm>
            <a:custGeom>
              <a:avLst/>
              <a:gdLst/>
              <a:ahLst/>
              <a:cxnLst/>
              <a:rect r="r" b="b" t="t" l="l"/>
              <a:pathLst>
                <a:path h="1157920" w="1124235">
                  <a:moveTo>
                    <a:pt x="0" y="0"/>
                  </a:moveTo>
                  <a:lnTo>
                    <a:pt x="1124235" y="0"/>
                  </a:lnTo>
                  <a:lnTo>
                    <a:pt x="1124235" y="1157919"/>
                  </a:lnTo>
                  <a:lnTo>
                    <a:pt x="0" y="1157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351305" y="439632"/>
              <a:ext cx="421625" cy="349462"/>
            </a:xfrm>
            <a:prstGeom prst="rect">
              <a:avLst/>
            </a:prstGeom>
          </p:spPr>
          <p:txBody>
            <a:bodyPr anchor="t" rtlCol="false" tIns="0" lIns="0" bIns="0" rIns="0">
              <a:spAutoFit/>
            </a:bodyPr>
            <a:lstStyle/>
            <a:p>
              <a:pPr algn="ctr">
                <a:lnSpc>
                  <a:spcPts val="1960"/>
                </a:lnSpc>
              </a:pPr>
              <a:r>
                <a:rPr lang="en-US" b="true" sz="1400">
                  <a:solidFill>
                    <a:srgbClr val="2B2B2B"/>
                  </a:solidFill>
                  <a:latin typeface="Agrandir Bold"/>
                  <a:ea typeface="Agrandir Bold"/>
                  <a:cs typeface="Agrandir Bold"/>
                  <a:sym typeface="Agrandir Bold"/>
                </a:rPr>
                <a:t>3</a:t>
              </a:r>
            </a:p>
          </p:txBody>
        </p:sp>
      </p:grpSp>
      <p:grpSp>
        <p:nvGrpSpPr>
          <p:cNvPr name="Group 17" id="17"/>
          <p:cNvGrpSpPr/>
          <p:nvPr/>
        </p:nvGrpSpPr>
        <p:grpSpPr>
          <a:xfrm rot="0">
            <a:off x="9809000" y="6584037"/>
            <a:ext cx="6907145" cy="1495426"/>
            <a:chOff x="0" y="0"/>
            <a:chExt cx="9209527" cy="1993901"/>
          </a:xfrm>
        </p:grpSpPr>
        <p:sp>
          <p:nvSpPr>
            <p:cNvPr name="TextBox 18" id="18"/>
            <p:cNvSpPr txBox="true"/>
            <p:nvPr/>
          </p:nvSpPr>
          <p:spPr>
            <a:xfrm rot="0">
              <a:off x="1634311" y="-133350"/>
              <a:ext cx="7575216" cy="2127251"/>
            </a:xfrm>
            <a:prstGeom prst="rect">
              <a:avLst/>
            </a:prstGeom>
          </p:spPr>
          <p:txBody>
            <a:bodyPr anchor="t" rtlCol="false" tIns="0" lIns="0" bIns="0" rIns="0">
              <a:spAutoFit/>
            </a:bodyPr>
            <a:lstStyle/>
            <a:p>
              <a:pPr algn="l">
                <a:lnSpc>
                  <a:spcPts val="4199"/>
                </a:lnSpc>
              </a:pPr>
              <a:r>
                <a:rPr lang="en-US" sz="2999">
                  <a:solidFill>
                    <a:srgbClr val="2B2B2B"/>
                  </a:solidFill>
                  <a:latin typeface="Agrandir"/>
                  <a:ea typeface="Agrandir"/>
                  <a:cs typeface="Agrandir"/>
                  <a:sym typeface="Agrandir"/>
                </a:rPr>
                <a:t>Normes et standard de sécurité pour le développement des dApps</a:t>
              </a:r>
            </a:p>
          </p:txBody>
        </p:sp>
        <p:sp>
          <p:nvSpPr>
            <p:cNvPr name="Freeform 19" id="19"/>
            <p:cNvSpPr/>
            <p:nvPr/>
          </p:nvSpPr>
          <p:spPr>
            <a:xfrm flipH="false" flipV="false" rot="0">
              <a:off x="0" y="417991"/>
              <a:ext cx="1124235" cy="1157920"/>
            </a:xfrm>
            <a:custGeom>
              <a:avLst/>
              <a:gdLst/>
              <a:ahLst/>
              <a:cxnLst/>
              <a:rect r="r" b="b" t="t" l="l"/>
              <a:pathLst>
                <a:path h="1157920" w="1124235">
                  <a:moveTo>
                    <a:pt x="0" y="0"/>
                  </a:moveTo>
                  <a:lnTo>
                    <a:pt x="1124235" y="0"/>
                  </a:lnTo>
                  <a:lnTo>
                    <a:pt x="1124235" y="1157919"/>
                  </a:lnTo>
                  <a:lnTo>
                    <a:pt x="0" y="1157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51305" y="788838"/>
              <a:ext cx="421625" cy="349550"/>
            </a:xfrm>
            <a:prstGeom prst="rect">
              <a:avLst/>
            </a:prstGeom>
          </p:spPr>
          <p:txBody>
            <a:bodyPr anchor="t" rtlCol="false" tIns="0" lIns="0" bIns="0" rIns="0">
              <a:spAutoFit/>
            </a:bodyPr>
            <a:lstStyle/>
            <a:p>
              <a:pPr algn="ctr">
                <a:lnSpc>
                  <a:spcPts val="1960"/>
                </a:lnSpc>
              </a:pPr>
              <a:r>
                <a:rPr lang="en-US" b="true" sz="1400">
                  <a:solidFill>
                    <a:srgbClr val="2B2B2B"/>
                  </a:solidFill>
                  <a:latin typeface="Agrandir Bold"/>
                  <a:ea typeface="Agrandir Bold"/>
                  <a:cs typeface="Agrandir Bold"/>
                  <a:sym typeface="Agrandir Bold"/>
                </a:rPr>
                <a:t>5</a:t>
              </a:r>
            </a:p>
          </p:txBody>
        </p:sp>
      </p:grpSp>
      <p:grpSp>
        <p:nvGrpSpPr>
          <p:cNvPr name="Group 21" id="21"/>
          <p:cNvGrpSpPr/>
          <p:nvPr/>
        </p:nvGrpSpPr>
        <p:grpSpPr>
          <a:xfrm rot="0">
            <a:off x="9809000" y="5117186"/>
            <a:ext cx="6907145" cy="971551"/>
            <a:chOff x="0" y="0"/>
            <a:chExt cx="9209527" cy="1295401"/>
          </a:xfrm>
        </p:grpSpPr>
        <p:sp>
          <p:nvSpPr>
            <p:cNvPr name="TextBox 22" id="22"/>
            <p:cNvSpPr txBox="true"/>
            <p:nvPr/>
          </p:nvSpPr>
          <p:spPr>
            <a:xfrm rot="0">
              <a:off x="1634311" y="-133350"/>
              <a:ext cx="7575216" cy="1428751"/>
            </a:xfrm>
            <a:prstGeom prst="rect">
              <a:avLst/>
            </a:prstGeom>
          </p:spPr>
          <p:txBody>
            <a:bodyPr anchor="t" rtlCol="false" tIns="0" lIns="0" bIns="0" rIns="0">
              <a:spAutoFit/>
            </a:bodyPr>
            <a:lstStyle/>
            <a:p>
              <a:pPr algn="l">
                <a:lnSpc>
                  <a:spcPts val="4199"/>
                </a:lnSpc>
              </a:pPr>
              <a:r>
                <a:rPr lang="en-US" sz="2999">
                  <a:solidFill>
                    <a:srgbClr val="2B2B2B"/>
                  </a:solidFill>
                  <a:latin typeface="Agrandir"/>
                  <a:ea typeface="Agrandir"/>
                  <a:cs typeface="Agrandir"/>
                  <a:sym typeface="Agrandir"/>
                </a:rPr>
                <a:t>Meilleures pratiques pour le développement des dApps</a:t>
              </a:r>
            </a:p>
          </p:txBody>
        </p:sp>
        <p:sp>
          <p:nvSpPr>
            <p:cNvPr name="Freeform 23" id="23"/>
            <p:cNvSpPr/>
            <p:nvPr/>
          </p:nvSpPr>
          <p:spPr>
            <a:xfrm flipH="false" flipV="false" rot="0">
              <a:off x="0" y="68741"/>
              <a:ext cx="1124235" cy="1157920"/>
            </a:xfrm>
            <a:custGeom>
              <a:avLst/>
              <a:gdLst/>
              <a:ahLst/>
              <a:cxnLst/>
              <a:rect r="r" b="b" t="t" l="l"/>
              <a:pathLst>
                <a:path h="1157920" w="1124235">
                  <a:moveTo>
                    <a:pt x="0" y="0"/>
                  </a:moveTo>
                  <a:lnTo>
                    <a:pt x="1124235" y="0"/>
                  </a:lnTo>
                  <a:lnTo>
                    <a:pt x="1124235" y="1157919"/>
                  </a:lnTo>
                  <a:lnTo>
                    <a:pt x="0" y="1157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351305" y="439588"/>
              <a:ext cx="421625" cy="349550"/>
            </a:xfrm>
            <a:prstGeom prst="rect">
              <a:avLst/>
            </a:prstGeom>
          </p:spPr>
          <p:txBody>
            <a:bodyPr anchor="t" rtlCol="false" tIns="0" lIns="0" bIns="0" rIns="0">
              <a:spAutoFit/>
            </a:bodyPr>
            <a:lstStyle/>
            <a:p>
              <a:pPr algn="ctr">
                <a:lnSpc>
                  <a:spcPts val="1960"/>
                </a:lnSpc>
              </a:pPr>
              <a:r>
                <a:rPr lang="en-US" b="true" sz="1400">
                  <a:solidFill>
                    <a:srgbClr val="2B2B2B"/>
                  </a:solidFill>
                  <a:latin typeface="Agrandir Bold"/>
                  <a:ea typeface="Agrandir Bold"/>
                  <a:cs typeface="Agrandir Bold"/>
                  <a:sym typeface="Agrandir Bold"/>
                </a:rPr>
                <a:t>4</a:t>
              </a:r>
            </a:p>
          </p:txBody>
        </p:sp>
      </p:grpSp>
      <p:grpSp>
        <p:nvGrpSpPr>
          <p:cNvPr name="Group 25" id="25"/>
          <p:cNvGrpSpPr/>
          <p:nvPr/>
        </p:nvGrpSpPr>
        <p:grpSpPr>
          <a:xfrm rot="0">
            <a:off x="9809000" y="8576479"/>
            <a:ext cx="6907145" cy="868440"/>
            <a:chOff x="0" y="0"/>
            <a:chExt cx="9209527" cy="1157920"/>
          </a:xfrm>
        </p:grpSpPr>
        <p:sp>
          <p:nvSpPr>
            <p:cNvPr name="TextBox 26" id="26"/>
            <p:cNvSpPr txBox="true"/>
            <p:nvPr/>
          </p:nvSpPr>
          <p:spPr>
            <a:xfrm rot="0">
              <a:off x="1634311" y="147159"/>
              <a:ext cx="7575216" cy="730251"/>
            </a:xfrm>
            <a:prstGeom prst="rect">
              <a:avLst/>
            </a:prstGeom>
          </p:spPr>
          <p:txBody>
            <a:bodyPr anchor="t" rtlCol="false" tIns="0" lIns="0" bIns="0" rIns="0">
              <a:spAutoFit/>
            </a:bodyPr>
            <a:lstStyle/>
            <a:p>
              <a:pPr algn="l">
                <a:lnSpc>
                  <a:spcPts val="4199"/>
                </a:lnSpc>
              </a:pPr>
              <a:r>
                <a:rPr lang="en-US" sz="2999">
                  <a:solidFill>
                    <a:srgbClr val="2B2B2B"/>
                  </a:solidFill>
                  <a:latin typeface="Agrandir"/>
                  <a:ea typeface="Agrandir"/>
                  <a:cs typeface="Agrandir"/>
                  <a:sym typeface="Agrandir"/>
                </a:rPr>
                <a:t>Conclusion</a:t>
              </a:r>
            </a:p>
          </p:txBody>
        </p:sp>
        <p:sp>
          <p:nvSpPr>
            <p:cNvPr name="Freeform 27" id="27"/>
            <p:cNvSpPr/>
            <p:nvPr/>
          </p:nvSpPr>
          <p:spPr>
            <a:xfrm flipH="false" flipV="false" rot="0">
              <a:off x="0" y="0"/>
              <a:ext cx="1124235" cy="1157920"/>
            </a:xfrm>
            <a:custGeom>
              <a:avLst/>
              <a:gdLst/>
              <a:ahLst/>
              <a:cxnLst/>
              <a:rect r="r" b="b" t="t" l="l"/>
              <a:pathLst>
                <a:path h="1157920" w="1124235">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8" id="28"/>
            <p:cNvSpPr txBox="true"/>
            <p:nvPr/>
          </p:nvSpPr>
          <p:spPr>
            <a:xfrm rot="0">
              <a:off x="351305" y="370847"/>
              <a:ext cx="421625" cy="349550"/>
            </a:xfrm>
            <a:prstGeom prst="rect">
              <a:avLst/>
            </a:prstGeom>
          </p:spPr>
          <p:txBody>
            <a:bodyPr anchor="t" rtlCol="false" tIns="0" lIns="0" bIns="0" rIns="0">
              <a:spAutoFit/>
            </a:bodyPr>
            <a:lstStyle/>
            <a:p>
              <a:pPr algn="ctr">
                <a:lnSpc>
                  <a:spcPts val="1960"/>
                </a:lnSpc>
              </a:pPr>
              <a:r>
                <a:rPr lang="en-US" b="true" sz="1400">
                  <a:solidFill>
                    <a:srgbClr val="2B2B2B"/>
                  </a:solidFill>
                  <a:latin typeface="Agrandir Bold"/>
                  <a:ea typeface="Agrandir Bold"/>
                  <a:cs typeface="Agrandir Bold"/>
                  <a:sym typeface="Agrandir Bold"/>
                </a:rPr>
                <a:t>6</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4E3"/>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2260163" y="3545562"/>
            <a:ext cx="4678199" cy="4749440"/>
          </a:xfrm>
          <a:prstGeom prst="rect">
            <a:avLst/>
          </a:prstGeom>
        </p:spPr>
      </p:pic>
      <p:sp>
        <p:nvSpPr>
          <p:cNvPr name="TextBox 3" id="3"/>
          <p:cNvSpPr txBox="true"/>
          <p:nvPr/>
        </p:nvSpPr>
        <p:spPr>
          <a:xfrm rot="0">
            <a:off x="1930182" y="986291"/>
            <a:ext cx="14427636" cy="952434"/>
          </a:xfrm>
          <a:prstGeom prst="rect">
            <a:avLst/>
          </a:prstGeom>
        </p:spPr>
        <p:txBody>
          <a:bodyPr anchor="t" rtlCol="false" tIns="0" lIns="0" bIns="0" rIns="0">
            <a:spAutoFit/>
          </a:bodyPr>
          <a:lstStyle/>
          <a:p>
            <a:pPr algn="ctr" marL="0" indent="0" lvl="0">
              <a:lnSpc>
                <a:spcPts val="6360"/>
              </a:lnSpc>
              <a:spcBef>
                <a:spcPct val="0"/>
              </a:spcBef>
            </a:pPr>
            <a:r>
              <a:rPr lang="en-US" b="true" sz="5300">
                <a:solidFill>
                  <a:srgbClr val="2B2B2B"/>
                </a:solidFill>
                <a:latin typeface="Agrandir Bold"/>
                <a:ea typeface="Agrandir Bold"/>
                <a:cs typeface="Agrandir Bold"/>
                <a:sym typeface="Agrandir Bold"/>
              </a:rPr>
              <a:t>Introduction</a:t>
            </a:r>
          </a:p>
        </p:txBody>
      </p:sp>
      <p:sp>
        <p:nvSpPr>
          <p:cNvPr name="TextBox 4" id="4"/>
          <p:cNvSpPr txBox="true"/>
          <p:nvPr/>
        </p:nvSpPr>
        <p:spPr>
          <a:xfrm rot="0">
            <a:off x="1482730" y="3238754"/>
            <a:ext cx="8901257" cy="5665946"/>
          </a:xfrm>
          <a:prstGeom prst="rect">
            <a:avLst/>
          </a:prstGeom>
        </p:spPr>
        <p:txBody>
          <a:bodyPr anchor="t" rtlCol="false" tIns="0" lIns="0" bIns="0" rIns="0">
            <a:spAutoFit/>
          </a:bodyPr>
          <a:lstStyle/>
          <a:p>
            <a:pPr algn="l">
              <a:lnSpc>
                <a:spcPts val="3710"/>
              </a:lnSpc>
              <a:spcBef>
                <a:spcPct val="0"/>
              </a:spcBef>
            </a:pPr>
            <a:r>
              <a:rPr lang="en-US" sz="2650">
                <a:solidFill>
                  <a:srgbClr val="2B2B2B"/>
                </a:solidFill>
                <a:latin typeface="Agrandir"/>
                <a:ea typeface="Agrandir"/>
                <a:cs typeface="Agrandir"/>
                <a:sym typeface="Agrandir"/>
              </a:rPr>
              <a:t>Les applications basées sur la blockchain sont de plus en plus répandues de nos jours. Elles sont plébiscitées dans de nombreux domaines telles que les finances, la logistique et la santé. Le développement de ces applications pose cependant encore quelques questions de sécurité et de confidentialité. Des normes et pratiques ont donc été mises en place pour formaliser les processus et garantir la protection des données des utilisateurs. Dans cette présentation, nous allons exposer ces normes et comment elles doivent être intégrées au processus de développement des applications basées sur la blockchain. </a:t>
            </a:r>
          </a:p>
        </p:txBody>
      </p:sp>
      <p:pic>
        <p:nvPicPr>
          <p:cNvPr name="Picture 5" id="5"/>
          <p:cNvPicPr>
            <a:picLocks noChangeAspect="true"/>
          </p:cNvPicPr>
          <p:nvPr/>
        </p:nvPicPr>
        <p:blipFill>
          <a:blip r:embed="rId3">
            <a:alphaModFix amt="25000"/>
          </a:blip>
          <a:srcRect l="0" t="0" r="0" b="0"/>
          <a:stretch>
            <a:fillRect/>
          </a:stretch>
        </p:blipFill>
        <p:spPr>
          <a:xfrm flipH="false" flipV="false" rot="0">
            <a:off x="-4501847" y="-3100219"/>
            <a:ext cx="8357113" cy="6200438"/>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EFE5"/>
        </a:solidFill>
      </p:bgPr>
    </p:bg>
    <p:spTree>
      <p:nvGrpSpPr>
        <p:cNvPr id="1" name=""/>
        <p:cNvGrpSpPr/>
        <p:nvPr/>
      </p:nvGrpSpPr>
      <p:grpSpPr>
        <a:xfrm>
          <a:off x="0" y="0"/>
          <a:ext cx="0" cy="0"/>
          <a:chOff x="0" y="0"/>
          <a:chExt cx="0" cy="0"/>
        </a:xfrm>
      </p:grpSpPr>
      <p:sp>
        <p:nvSpPr>
          <p:cNvPr name="Freeform 2" id="2"/>
          <p:cNvSpPr/>
          <p:nvPr/>
        </p:nvSpPr>
        <p:spPr>
          <a:xfrm flipH="false" flipV="false" rot="0">
            <a:off x="12405499" y="4368122"/>
            <a:ext cx="4051142" cy="1532068"/>
          </a:xfrm>
          <a:custGeom>
            <a:avLst/>
            <a:gdLst/>
            <a:ahLst/>
            <a:cxnLst/>
            <a:rect r="r" b="b" t="t" l="l"/>
            <a:pathLst>
              <a:path h="1532068" w="4051142">
                <a:moveTo>
                  <a:pt x="0" y="0"/>
                </a:moveTo>
                <a:lnTo>
                  <a:pt x="4051142" y="0"/>
                </a:lnTo>
                <a:lnTo>
                  <a:pt x="4051142" y="1532069"/>
                </a:lnTo>
                <a:lnTo>
                  <a:pt x="0" y="15320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27979" y="3923598"/>
            <a:ext cx="2434395" cy="2421116"/>
          </a:xfrm>
          <a:custGeom>
            <a:avLst/>
            <a:gdLst/>
            <a:ahLst/>
            <a:cxnLst/>
            <a:rect r="r" b="b" t="t" l="l"/>
            <a:pathLst>
              <a:path h="2421116" w="2434395">
                <a:moveTo>
                  <a:pt x="0" y="0"/>
                </a:moveTo>
                <a:lnTo>
                  <a:pt x="2434395" y="0"/>
                </a:lnTo>
                <a:lnTo>
                  <a:pt x="2434395" y="2421117"/>
                </a:lnTo>
                <a:lnTo>
                  <a:pt x="0" y="24211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32698" y="3765503"/>
            <a:ext cx="3654972" cy="2737307"/>
          </a:xfrm>
          <a:custGeom>
            <a:avLst/>
            <a:gdLst/>
            <a:ahLst/>
            <a:cxnLst/>
            <a:rect r="r" b="b" t="t" l="l"/>
            <a:pathLst>
              <a:path h="2737307" w="3654972">
                <a:moveTo>
                  <a:pt x="0" y="0"/>
                </a:moveTo>
                <a:lnTo>
                  <a:pt x="3654972" y="0"/>
                </a:lnTo>
                <a:lnTo>
                  <a:pt x="3654972" y="2737307"/>
                </a:lnTo>
                <a:lnTo>
                  <a:pt x="0" y="2737307"/>
                </a:lnTo>
                <a:lnTo>
                  <a:pt x="0" y="0"/>
                </a:lnTo>
                <a:close/>
              </a:path>
            </a:pathLst>
          </a:custGeom>
          <a:blipFill>
            <a:blip r:embed="rId6"/>
            <a:stretch>
              <a:fillRect l="0" t="0" r="0" b="0"/>
            </a:stretch>
          </a:blipFill>
        </p:spPr>
      </p:sp>
      <p:grpSp>
        <p:nvGrpSpPr>
          <p:cNvPr name="Group 5" id="5"/>
          <p:cNvGrpSpPr/>
          <p:nvPr/>
        </p:nvGrpSpPr>
        <p:grpSpPr>
          <a:xfrm rot="0">
            <a:off x="1831359" y="7255012"/>
            <a:ext cx="4057650" cy="2279018"/>
            <a:chOff x="0" y="0"/>
            <a:chExt cx="5410200" cy="3038691"/>
          </a:xfrm>
        </p:grpSpPr>
        <p:sp>
          <p:nvSpPr>
            <p:cNvPr name="TextBox 6" id="6"/>
            <p:cNvSpPr txBox="true"/>
            <p:nvPr/>
          </p:nvSpPr>
          <p:spPr>
            <a:xfrm rot="0">
              <a:off x="0" y="-133350"/>
              <a:ext cx="5410200" cy="665814"/>
            </a:xfrm>
            <a:prstGeom prst="rect">
              <a:avLst/>
            </a:prstGeom>
          </p:spPr>
          <p:txBody>
            <a:bodyPr anchor="t" rtlCol="false" tIns="0" lIns="0" bIns="0" rIns="0">
              <a:spAutoFit/>
            </a:bodyPr>
            <a:lstStyle/>
            <a:p>
              <a:pPr algn="ctr" marL="0" indent="0" lvl="0">
                <a:lnSpc>
                  <a:spcPts val="3710"/>
                </a:lnSpc>
                <a:spcBef>
                  <a:spcPct val="0"/>
                </a:spcBef>
              </a:pPr>
              <a:r>
                <a:rPr lang="en-US" b="true" sz="2650">
                  <a:solidFill>
                    <a:srgbClr val="2B2B2B"/>
                  </a:solidFill>
                  <a:latin typeface="Agrandir Bold"/>
                  <a:ea typeface="Agrandir Bold"/>
                  <a:cs typeface="Agrandir Bold"/>
                  <a:sym typeface="Agrandir Bold"/>
                </a:rPr>
                <a:t>Solidity</a:t>
              </a:r>
            </a:p>
          </p:txBody>
        </p:sp>
        <p:sp>
          <p:nvSpPr>
            <p:cNvPr name="TextBox 7" id="7"/>
            <p:cNvSpPr txBox="true"/>
            <p:nvPr/>
          </p:nvSpPr>
          <p:spPr>
            <a:xfrm rot="0">
              <a:off x="0" y="918205"/>
              <a:ext cx="5410200" cy="2120486"/>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Support de la communauté Etherum, Facilité d’utilisation pour les développeurs Javascript, efficacité pour écrire des contrats intelligents sur la blockchain Etherum. </a:t>
              </a:r>
            </a:p>
          </p:txBody>
        </p:sp>
      </p:grpSp>
      <p:grpSp>
        <p:nvGrpSpPr>
          <p:cNvPr name="Group 8" id="8"/>
          <p:cNvGrpSpPr/>
          <p:nvPr/>
        </p:nvGrpSpPr>
        <p:grpSpPr>
          <a:xfrm rot="0">
            <a:off x="7016352" y="7255012"/>
            <a:ext cx="4057650" cy="1964660"/>
            <a:chOff x="0" y="0"/>
            <a:chExt cx="5410200" cy="2619547"/>
          </a:xfrm>
        </p:grpSpPr>
        <p:sp>
          <p:nvSpPr>
            <p:cNvPr name="TextBox 9" id="9"/>
            <p:cNvSpPr txBox="true"/>
            <p:nvPr/>
          </p:nvSpPr>
          <p:spPr>
            <a:xfrm rot="0">
              <a:off x="0" y="-133350"/>
              <a:ext cx="5410200" cy="665814"/>
            </a:xfrm>
            <a:prstGeom prst="rect">
              <a:avLst/>
            </a:prstGeom>
          </p:spPr>
          <p:txBody>
            <a:bodyPr anchor="t" rtlCol="false" tIns="0" lIns="0" bIns="0" rIns="0">
              <a:spAutoFit/>
            </a:bodyPr>
            <a:lstStyle/>
            <a:p>
              <a:pPr algn="ctr" marL="0" indent="0" lvl="0">
                <a:lnSpc>
                  <a:spcPts val="3710"/>
                </a:lnSpc>
                <a:spcBef>
                  <a:spcPct val="0"/>
                </a:spcBef>
              </a:pPr>
              <a:r>
                <a:rPr lang="en-US" b="true" sz="2650">
                  <a:solidFill>
                    <a:srgbClr val="2B2B2B"/>
                  </a:solidFill>
                  <a:latin typeface="Agrandir Bold"/>
                  <a:ea typeface="Agrandir Bold"/>
                  <a:cs typeface="Agrandir Bold"/>
                  <a:sym typeface="Agrandir Bold"/>
                </a:rPr>
                <a:t>Python</a:t>
              </a:r>
            </a:p>
          </p:txBody>
        </p:sp>
        <p:sp>
          <p:nvSpPr>
            <p:cNvPr name="TextBox 10" id="10"/>
            <p:cNvSpPr txBox="true"/>
            <p:nvPr/>
          </p:nvSpPr>
          <p:spPr>
            <a:xfrm rot="0">
              <a:off x="0" y="918205"/>
              <a:ext cx="5410200" cy="1701342"/>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Portabilité et flexibilité, Une multitude de bibliothèques dédiées au développement d’applications basées sur la blockchain. </a:t>
              </a:r>
            </a:p>
          </p:txBody>
        </p:sp>
      </p:grpSp>
      <p:grpSp>
        <p:nvGrpSpPr>
          <p:cNvPr name="Group 11" id="11"/>
          <p:cNvGrpSpPr/>
          <p:nvPr/>
        </p:nvGrpSpPr>
        <p:grpSpPr>
          <a:xfrm rot="0">
            <a:off x="12201345" y="7255012"/>
            <a:ext cx="4057650" cy="2279018"/>
            <a:chOff x="0" y="0"/>
            <a:chExt cx="5410200" cy="3038691"/>
          </a:xfrm>
        </p:grpSpPr>
        <p:sp>
          <p:nvSpPr>
            <p:cNvPr name="TextBox 12" id="12"/>
            <p:cNvSpPr txBox="true"/>
            <p:nvPr/>
          </p:nvSpPr>
          <p:spPr>
            <a:xfrm rot="0">
              <a:off x="0" y="-133350"/>
              <a:ext cx="5410200" cy="665814"/>
            </a:xfrm>
            <a:prstGeom prst="rect">
              <a:avLst/>
            </a:prstGeom>
          </p:spPr>
          <p:txBody>
            <a:bodyPr anchor="t" rtlCol="false" tIns="0" lIns="0" bIns="0" rIns="0">
              <a:spAutoFit/>
            </a:bodyPr>
            <a:lstStyle/>
            <a:p>
              <a:pPr algn="ctr" marL="0" indent="0" lvl="0">
                <a:lnSpc>
                  <a:spcPts val="3710"/>
                </a:lnSpc>
                <a:spcBef>
                  <a:spcPct val="0"/>
                </a:spcBef>
              </a:pPr>
              <a:r>
                <a:rPr lang="en-US" b="true" sz="2650">
                  <a:solidFill>
                    <a:srgbClr val="2B2B2B"/>
                  </a:solidFill>
                  <a:latin typeface="Agrandir Bold"/>
                  <a:ea typeface="Agrandir Bold"/>
                  <a:cs typeface="Agrandir Bold"/>
                  <a:sym typeface="Agrandir Bold"/>
                </a:rPr>
                <a:t>Go</a:t>
              </a:r>
            </a:p>
          </p:txBody>
        </p:sp>
        <p:sp>
          <p:nvSpPr>
            <p:cNvPr name="TextBox 13" id="13"/>
            <p:cNvSpPr txBox="true"/>
            <p:nvPr/>
          </p:nvSpPr>
          <p:spPr>
            <a:xfrm rot="0">
              <a:off x="0" y="918205"/>
              <a:ext cx="5410200" cy="2120486"/>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Simplicité, Rapidité d’exécution, Bonne capacité à gérer la concurrence dans le développement d’applications basées sur la blockchain.</a:t>
              </a:r>
            </a:p>
          </p:txBody>
        </p:sp>
      </p:grpSp>
      <p:sp>
        <p:nvSpPr>
          <p:cNvPr name="TextBox 14" id="14"/>
          <p:cNvSpPr txBox="true"/>
          <p:nvPr/>
        </p:nvSpPr>
        <p:spPr>
          <a:xfrm rot="0">
            <a:off x="1930182" y="1440321"/>
            <a:ext cx="14427636" cy="1752468"/>
          </a:xfrm>
          <a:prstGeom prst="rect">
            <a:avLst/>
          </a:prstGeom>
        </p:spPr>
        <p:txBody>
          <a:bodyPr anchor="t" rtlCol="false" tIns="0" lIns="0" bIns="0" rIns="0">
            <a:spAutoFit/>
          </a:bodyPr>
          <a:lstStyle/>
          <a:p>
            <a:pPr algn="ctr" marL="0" indent="0" lvl="0">
              <a:lnSpc>
                <a:spcPts val="6360"/>
              </a:lnSpc>
              <a:spcBef>
                <a:spcPct val="0"/>
              </a:spcBef>
            </a:pPr>
            <a:r>
              <a:rPr lang="en-US" b="true" sz="5300">
                <a:solidFill>
                  <a:srgbClr val="2B2B2B"/>
                </a:solidFill>
                <a:latin typeface="Agrandir Bold"/>
                <a:ea typeface="Agrandir Bold"/>
                <a:cs typeface="Agrandir Bold"/>
                <a:sym typeface="Agrandir Bold"/>
              </a:rPr>
              <a:t>Quelques technologies efficaces pour le développement des dApss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sp>
        <p:nvSpPr>
          <p:cNvPr name="AutoShape 2" id="2"/>
          <p:cNvSpPr/>
          <p:nvPr/>
        </p:nvSpPr>
        <p:spPr>
          <a:xfrm flipH="true">
            <a:off x="9449265" y="0"/>
            <a:ext cx="4762" cy="10637447"/>
          </a:xfrm>
          <a:prstGeom prst="line">
            <a:avLst/>
          </a:prstGeom>
          <a:ln cap="flat" w="9525">
            <a:solidFill>
              <a:srgbClr val="2B2B2B"/>
            </a:solidFill>
            <a:prstDash val="solid"/>
            <a:headEnd type="none" len="sm" w="sm"/>
            <a:tailEnd type="none" len="sm" w="sm"/>
          </a:ln>
        </p:spPr>
      </p:sp>
      <p:sp>
        <p:nvSpPr>
          <p:cNvPr name="TextBox 3" id="3"/>
          <p:cNvSpPr txBox="true"/>
          <p:nvPr/>
        </p:nvSpPr>
        <p:spPr>
          <a:xfrm rot="0">
            <a:off x="1845129" y="2991015"/>
            <a:ext cx="5956776" cy="4152569"/>
          </a:xfrm>
          <a:prstGeom prst="rect">
            <a:avLst/>
          </a:prstGeom>
        </p:spPr>
        <p:txBody>
          <a:bodyPr anchor="t" rtlCol="false" tIns="0" lIns="0" bIns="0" rIns="0">
            <a:spAutoFit/>
          </a:bodyPr>
          <a:lstStyle/>
          <a:p>
            <a:pPr algn="ctr" marL="0" indent="0" lvl="0">
              <a:lnSpc>
                <a:spcPts val="6329"/>
              </a:lnSpc>
              <a:spcBef>
                <a:spcPct val="0"/>
              </a:spcBef>
            </a:pPr>
            <a:r>
              <a:rPr lang="en-US" sz="5274">
                <a:solidFill>
                  <a:srgbClr val="2B2B2B"/>
                </a:solidFill>
                <a:latin typeface="Agrandir"/>
                <a:ea typeface="Agrandir"/>
                <a:cs typeface="Agrandir"/>
                <a:sym typeface="Agrandir"/>
              </a:rPr>
              <a:t>Enjeux et défis de sécurité liés aux applications basées sur la blockchain. </a:t>
            </a:r>
          </a:p>
        </p:txBody>
      </p:sp>
      <p:grpSp>
        <p:nvGrpSpPr>
          <p:cNvPr name="Group 4" id="4"/>
          <p:cNvGrpSpPr/>
          <p:nvPr/>
        </p:nvGrpSpPr>
        <p:grpSpPr>
          <a:xfrm rot="0">
            <a:off x="10769286" y="678448"/>
            <a:ext cx="4076092" cy="2367250"/>
            <a:chOff x="0" y="0"/>
            <a:chExt cx="5434789" cy="3156334"/>
          </a:xfrm>
        </p:grpSpPr>
        <p:sp>
          <p:nvSpPr>
            <p:cNvPr name="TextBox 5" id="5"/>
            <p:cNvSpPr txBox="true"/>
            <p:nvPr/>
          </p:nvSpPr>
          <p:spPr>
            <a:xfrm rot="0">
              <a:off x="0" y="-133350"/>
              <a:ext cx="5434789" cy="1288026"/>
            </a:xfrm>
            <a:prstGeom prst="rect">
              <a:avLst/>
            </a:prstGeom>
          </p:spPr>
          <p:txBody>
            <a:bodyPr anchor="t" rtlCol="false" tIns="0" lIns="0" bIns="0" rIns="0">
              <a:spAutoFit/>
            </a:bodyPr>
            <a:lstStyle/>
            <a:p>
              <a:pPr algn="l" marL="0" indent="0" lvl="0">
                <a:lnSpc>
                  <a:spcPts val="3710"/>
                </a:lnSpc>
                <a:spcBef>
                  <a:spcPct val="0"/>
                </a:spcBef>
              </a:pPr>
              <a:r>
                <a:rPr lang="en-US" b="true" sz="2650">
                  <a:solidFill>
                    <a:srgbClr val="2B2B2B"/>
                  </a:solidFill>
                  <a:latin typeface="Agrandir Bold"/>
                  <a:ea typeface="Agrandir Bold"/>
                  <a:cs typeface="Agrandir Bold"/>
                  <a:sym typeface="Agrandir Bold"/>
                </a:rPr>
                <a:t>Les vulnérabilités liées à la blockchain</a:t>
              </a:r>
            </a:p>
          </p:txBody>
        </p:sp>
        <p:sp>
          <p:nvSpPr>
            <p:cNvPr name="TextBox 6" id="6"/>
            <p:cNvSpPr txBox="true"/>
            <p:nvPr/>
          </p:nvSpPr>
          <p:spPr>
            <a:xfrm rot="0">
              <a:off x="0" y="1563700"/>
              <a:ext cx="5434789" cy="1592633"/>
            </a:xfrm>
            <a:prstGeom prst="rect">
              <a:avLst/>
            </a:prstGeom>
          </p:spPr>
          <p:txBody>
            <a:bodyPr anchor="t" rtlCol="false" tIns="0" lIns="0" bIns="0" rIns="0">
              <a:spAutoFit/>
            </a:bodyPr>
            <a:lstStyle/>
            <a:p>
              <a:pPr algn="l" marL="474978" indent="-237489" lvl="1">
                <a:lnSpc>
                  <a:spcPts val="3079"/>
                </a:lnSpc>
                <a:buFont typeface="Arial"/>
                <a:buChar char="•"/>
              </a:pPr>
              <a:r>
                <a:rPr lang="en-US" sz="2199">
                  <a:solidFill>
                    <a:srgbClr val="2B2B2B"/>
                  </a:solidFill>
                  <a:latin typeface="Agrandir"/>
                  <a:ea typeface="Agrandir"/>
                  <a:cs typeface="Agrandir"/>
                  <a:sym typeface="Agrandir"/>
                </a:rPr>
                <a:t>Attaque des 51%</a:t>
              </a:r>
            </a:p>
            <a:p>
              <a:pPr algn="l" marL="474978" indent="-237489" lvl="1">
                <a:lnSpc>
                  <a:spcPts val="3079"/>
                </a:lnSpc>
                <a:buFont typeface="Arial"/>
                <a:buChar char="•"/>
              </a:pPr>
              <a:r>
                <a:rPr lang="en-US" sz="2199">
                  <a:solidFill>
                    <a:srgbClr val="2B2B2B"/>
                  </a:solidFill>
                  <a:latin typeface="Agrandir"/>
                  <a:ea typeface="Agrandir"/>
                  <a:cs typeface="Agrandir"/>
                  <a:sym typeface="Agrandir"/>
                </a:rPr>
                <a:t>Problèmes de consensus</a:t>
              </a:r>
            </a:p>
            <a:p>
              <a:pPr algn="l" marL="474978" indent="-237489" lvl="1">
                <a:lnSpc>
                  <a:spcPts val="3079"/>
                </a:lnSpc>
                <a:buFont typeface="Arial"/>
                <a:buChar char="•"/>
              </a:pPr>
              <a:r>
                <a:rPr lang="en-US" sz="2199">
                  <a:solidFill>
                    <a:srgbClr val="2B2B2B"/>
                  </a:solidFill>
                  <a:latin typeface="Agrandir"/>
                  <a:ea typeface="Agrandir"/>
                  <a:cs typeface="Agrandir"/>
                  <a:sym typeface="Agrandir"/>
                </a:rPr>
                <a:t>Attaques de type Sybil. </a:t>
              </a:r>
            </a:p>
          </p:txBody>
        </p:sp>
      </p:grpSp>
      <p:sp>
        <p:nvSpPr>
          <p:cNvPr name="Freeform 7" id="7"/>
          <p:cNvSpPr/>
          <p:nvPr/>
        </p:nvSpPr>
        <p:spPr>
          <a:xfrm flipH="false" flipV="false" rot="0">
            <a:off x="9186518" y="1028700"/>
            <a:ext cx="535018" cy="428106"/>
          </a:xfrm>
          <a:custGeom>
            <a:avLst/>
            <a:gdLst/>
            <a:ahLst/>
            <a:cxnLst/>
            <a:rect r="r" b="b" t="t" l="l"/>
            <a:pathLst>
              <a:path h="428106" w="535018">
                <a:moveTo>
                  <a:pt x="0" y="0"/>
                </a:moveTo>
                <a:lnTo>
                  <a:pt x="535018" y="0"/>
                </a:lnTo>
                <a:lnTo>
                  <a:pt x="535018" y="428106"/>
                </a:lnTo>
                <a:lnTo>
                  <a:pt x="0" y="428106"/>
                </a:lnTo>
                <a:lnTo>
                  <a:pt x="0" y="0"/>
                </a:lnTo>
                <a:close/>
              </a:path>
            </a:pathLst>
          </a:custGeom>
          <a:blipFill>
            <a:blip r:embed="rId2">
              <a:extLst>
                <a:ext uri="{96DAC541-7B7A-43D3-8B79-37D633B846F1}">
                  <asvg:svgBlip xmlns:asvg="http://schemas.microsoft.com/office/drawing/2016/SVG/main" r:embed="rId3"/>
                </a:ext>
              </a:extLst>
            </a:blip>
            <a:stretch>
              <a:fillRect l="-83" t="0" r="-83" b="0"/>
            </a:stretch>
          </a:blipFill>
        </p:spPr>
      </p:sp>
      <p:grpSp>
        <p:nvGrpSpPr>
          <p:cNvPr name="Group 8" id="8"/>
          <p:cNvGrpSpPr/>
          <p:nvPr/>
        </p:nvGrpSpPr>
        <p:grpSpPr>
          <a:xfrm rot="0">
            <a:off x="10769286" y="4155171"/>
            <a:ext cx="4076092" cy="2757841"/>
            <a:chOff x="0" y="0"/>
            <a:chExt cx="5434789" cy="3677121"/>
          </a:xfrm>
        </p:grpSpPr>
        <p:sp>
          <p:nvSpPr>
            <p:cNvPr name="TextBox 9" id="9"/>
            <p:cNvSpPr txBox="true"/>
            <p:nvPr/>
          </p:nvSpPr>
          <p:spPr>
            <a:xfrm rot="0">
              <a:off x="0" y="-133350"/>
              <a:ext cx="5434789" cy="1288026"/>
            </a:xfrm>
            <a:prstGeom prst="rect">
              <a:avLst/>
            </a:prstGeom>
          </p:spPr>
          <p:txBody>
            <a:bodyPr anchor="t" rtlCol="false" tIns="0" lIns="0" bIns="0" rIns="0">
              <a:spAutoFit/>
            </a:bodyPr>
            <a:lstStyle/>
            <a:p>
              <a:pPr algn="l" marL="0" indent="0" lvl="0">
                <a:lnSpc>
                  <a:spcPts val="3710"/>
                </a:lnSpc>
                <a:spcBef>
                  <a:spcPct val="0"/>
                </a:spcBef>
              </a:pPr>
              <a:r>
                <a:rPr lang="en-US" b="true" sz="2650">
                  <a:solidFill>
                    <a:srgbClr val="2B2B2B"/>
                  </a:solidFill>
                  <a:latin typeface="Agrandir Bold"/>
                  <a:ea typeface="Agrandir Bold"/>
                  <a:cs typeface="Agrandir Bold"/>
                  <a:sym typeface="Agrandir Bold"/>
                </a:rPr>
                <a:t>Les vulnérabilités liées aux smart contracts</a:t>
              </a:r>
            </a:p>
          </p:txBody>
        </p:sp>
        <p:sp>
          <p:nvSpPr>
            <p:cNvPr name="TextBox 10" id="10"/>
            <p:cNvSpPr txBox="true"/>
            <p:nvPr/>
          </p:nvSpPr>
          <p:spPr>
            <a:xfrm rot="0">
              <a:off x="0" y="1563700"/>
              <a:ext cx="5434789" cy="2113421"/>
            </a:xfrm>
            <a:prstGeom prst="rect">
              <a:avLst/>
            </a:prstGeom>
          </p:spPr>
          <p:txBody>
            <a:bodyPr anchor="t" rtlCol="false" tIns="0" lIns="0" bIns="0" rIns="0">
              <a:spAutoFit/>
            </a:bodyPr>
            <a:lstStyle/>
            <a:p>
              <a:pPr algn="l" marL="474984" indent="-237492" lvl="1">
                <a:lnSpc>
                  <a:spcPts val="3080"/>
                </a:lnSpc>
                <a:buFont typeface="Arial"/>
                <a:buChar char="•"/>
              </a:pPr>
              <a:r>
                <a:rPr lang="en-US" sz="2200">
                  <a:solidFill>
                    <a:srgbClr val="2B2B2B"/>
                  </a:solidFill>
                  <a:latin typeface="Agrandir"/>
                  <a:ea typeface="Agrandir"/>
                  <a:cs typeface="Agrandir"/>
                  <a:sym typeface="Agrandir"/>
                </a:rPr>
                <a:t>Attaques par réentrée</a:t>
              </a:r>
            </a:p>
            <a:p>
              <a:pPr algn="l" marL="474984" indent="-237492" lvl="1">
                <a:lnSpc>
                  <a:spcPts val="3080"/>
                </a:lnSpc>
                <a:buFont typeface="Arial"/>
                <a:buChar char="•"/>
              </a:pPr>
              <a:r>
                <a:rPr lang="en-US" sz="2200">
                  <a:solidFill>
                    <a:srgbClr val="2B2B2B"/>
                  </a:solidFill>
                  <a:latin typeface="Agrandir"/>
                  <a:ea typeface="Agrandir"/>
                  <a:cs typeface="Agrandir"/>
                  <a:sym typeface="Agrandir"/>
                </a:rPr>
                <a:t>Attaque par rejeu  </a:t>
              </a:r>
            </a:p>
            <a:p>
              <a:pPr algn="l" marL="474984" indent="-237492" lvl="1">
                <a:lnSpc>
                  <a:spcPts val="3080"/>
                </a:lnSpc>
                <a:buFont typeface="Arial"/>
                <a:buChar char="•"/>
              </a:pPr>
              <a:r>
                <a:rPr lang="en-US" sz="2200">
                  <a:solidFill>
                    <a:srgbClr val="2B2B2B"/>
                  </a:solidFill>
                  <a:latin typeface="Agrandir"/>
                  <a:ea typeface="Agrandir"/>
                  <a:cs typeface="Agrandir"/>
                  <a:sym typeface="Agrandir"/>
                </a:rPr>
                <a:t>Attaque par déni de service.</a:t>
              </a:r>
            </a:p>
          </p:txBody>
        </p:sp>
      </p:grpSp>
      <p:grpSp>
        <p:nvGrpSpPr>
          <p:cNvPr name="Group 11" id="11"/>
          <p:cNvGrpSpPr/>
          <p:nvPr/>
        </p:nvGrpSpPr>
        <p:grpSpPr>
          <a:xfrm rot="0">
            <a:off x="10769286" y="7236729"/>
            <a:ext cx="4076092" cy="1976658"/>
            <a:chOff x="0" y="0"/>
            <a:chExt cx="5434789" cy="2635545"/>
          </a:xfrm>
        </p:grpSpPr>
        <p:sp>
          <p:nvSpPr>
            <p:cNvPr name="TextBox 12" id="12"/>
            <p:cNvSpPr txBox="true"/>
            <p:nvPr/>
          </p:nvSpPr>
          <p:spPr>
            <a:xfrm rot="0">
              <a:off x="0" y="-133350"/>
              <a:ext cx="5434789" cy="1288026"/>
            </a:xfrm>
            <a:prstGeom prst="rect">
              <a:avLst/>
            </a:prstGeom>
          </p:spPr>
          <p:txBody>
            <a:bodyPr anchor="t" rtlCol="false" tIns="0" lIns="0" bIns="0" rIns="0">
              <a:spAutoFit/>
            </a:bodyPr>
            <a:lstStyle/>
            <a:p>
              <a:pPr algn="l" marL="0" indent="0" lvl="0">
                <a:lnSpc>
                  <a:spcPts val="3710"/>
                </a:lnSpc>
                <a:spcBef>
                  <a:spcPct val="0"/>
                </a:spcBef>
              </a:pPr>
              <a:r>
                <a:rPr lang="en-US" b="true" sz="2650">
                  <a:solidFill>
                    <a:srgbClr val="2B2B2B"/>
                  </a:solidFill>
                  <a:latin typeface="Agrandir Bold"/>
                  <a:ea typeface="Agrandir Bold"/>
                  <a:cs typeface="Agrandir Bold"/>
                  <a:sym typeface="Agrandir Bold"/>
                </a:rPr>
                <a:t>Les vulnérabilités liées à la sécurité des clés </a:t>
              </a:r>
            </a:p>
          </p:txBody>
        </p:sp>
        <p:sp>
          <p:nvSpPr>
            <p:cNvPr name="TextBox 13" id="13"/>
            <p:cNvSpPr txBox="true"/>
            <p:nvPr/>
          </p:nvSpPr>
          <p:spPr>
            <a:xfrm rot="0">
              <a:off x="0" y="1563700"/>
              <a:ext cx="5434789" cy="1071844"/>
            </a:xfrm>
            <a:prstGeom prst="rect">
              <a:avLst/>
            </a:prstGeom>
          </p:spPr>
          <p:txBody>
            <a:bodyPr anchor="t" rtlCol="false" tIns="0" lIns="0" bIns="0" rIns="0">
              <a:spAutoFit/>
            </a:bodyPr>
            <a:lstStyle/>
            <a:p>
              <a:pPr algn="l" marL="474984" indent="-237492" lvl="1">
                <a:lnSpc>
                  <a:spcPts val="3080"/>
                </a:lnSpc>
                <a:buFont typeface="Arial"/>
                <a:buChar char="•"/>
              </a:pPr>
              <a:r>
                <a:rPr lang="en-US" sz="2200">
                  <a:solidFill>
                    <a:srgbClr val="2B2B2B"/>
                  </a:solidFill>
                  <a:latin typeface="Agrandir"/>
                  <a:ea typeface="Agrandir"/>
                  <a:cs typeface="Agrandir"/>
                  <a:sym typeface="Agrandir"/>
                </a:rPr>
                <a:t>Phishing </a:t>
              </a:r>
            </a:p>
            <a:p>
              <a:pPr algn="l" marL="474984" indent="-237492" lvl="1">
                <a:lnSpc>
                  <a:spcPts val="3080"/>
                </a:lnSpc>
                <a:buFont typeface="Arial"/>
                <a:buChar char="•"/>
              </a:pPr>
              <a:r>
                <a:rPr lang="en-US" sz="2200">
                  <a:solidFill>
                    <a:srgbClr val="2B2B2B"/>
                  </a:solidFill>
                  <a:latin typeface="Agrandir"/>
                  <a:ea typeface="Agrandir"/>
                  <a:cs typeface="Agrandir"/>
                  <a:sym typeface="Agrandir"/>
                </a:rPr>
                <a:t>Attaque par force brute.</a:t>
              </a:r>
            </a:p>
          </p:txBody>
        </p:sp>
      </p:grpSp>
      <p:sp>
        <p:nvSpPr>
          <p:cNvPr name="Freeform 14" id="14"/>
          <p:cNvSpPr/>
          <p:nvPr/>
        </p:nvSpPr>
        <p:spPr>
          <a:xfrm flipH="false" flipV="false" rot="0">
            <a:off x="9186518" y="4929447"/>
            <a:ext cx="535018" cy="428106"/>
          </a:xfrm>
          <a:custGeom>
            <a:avLst/>
            <a:gdLst/>
            <a:ahLst/>
            <a:cxnLst/>
            <a:rect r="r" b="b" t="t" l="l"/>
            <a:pathLst>
              <a:path h="428106" w="535018">
                <a:moveTo>
                  <a:pt x="0" y="0"/>
                </a:moveTo>
                <a:lnTo>
                  <a:pt x="535018" y="0"/>
                </a:lnTo>
                <a:lnTo>
                  <a:pt x="535018" y="428106"/>
                </a:lnTo>
                <a:lnTo>
                  <a:pt x="0" y="428106"/>
                </a:lnTo>
                <a:lnTo>
                  <a:pt x="0" y="0"/>
                </a:lnTo>
                <a:close/>
              </a:path>
            </a:pathLst>
          </a:custGeom>
          <a:blipFill>
            <a:blip r:embed="rId4">
              <a:extLst>
                <a:ext uri="{96DAC541-7B7A-43D3-8B79-37D633B846F1}">
                  <asvg:svgBlip xmlns:asvg="http://schemas.microsoft.com/office/drawing/2016/SVG/main" r:embed="rId5"/>
                </a:ext>
              </a:extLst>
            </a:blip>
            <a:stretch>
              <a:fillRect l="-83" t="0" r="-83" b="0"/>
            </a:stretch>
          </a:blipFill>
        </p:spPr>
      </p:sp>
      <p:sp>
        <p:nvSpPr>
          <p:cNvPr name="Freeform 15" id="15"/>
          <p:cNvSpPr/>
          <p:nvPr/>
        </p:nvSpPr>
        <p:spPr>
          <a:xfrm flipH="false" flipV="false" rot="0">
            <a:off x="9186518" y="8011005"/>
            <a:ext cx="535018" cy="428106"/>
          </a:xfrm>
          <a:custGeom>
            <a:avLst/>
            <a:gdLst/>
            <a:ahLst/>
            <a:cxnLst/>
            <a:rect r="r" b="b" t="t" l="l"/>
            <a:pathLst>
              <a:path h="428106" w="535018">
                <a:moveTo>
                  <a:pt x="0" y="0"/>
                </a:moveTo>
                <a:lnTo>
                  <a:pt x="535018" y="0"/>
                </a:lnTo>
                <a:lnTo>
                  <a:pt x="535018" y="428107"/>
                </a:lnTo>
                <a:lnTo>
                  <a:pt x="0" y="428107"/>
                </a:lnTo>
                <a:lnTo>
                  <a:pt x="0" y="0"/>
                </a:lnTo>
                <a:close/>
              </a:path>
            </a:pathLst>
          </a:custGeom>
          <a:blipFill>
            <a:blip r:embed="rId6">
              <a:extLst>
                <a:ext uri="{96DAC541-7B7A-43D3-8B79-37D633B846F1}">
                  <asvg:svgBlip xmlns:asvg="http://schemas.microsoft.com/office/drawing/2016/SVG/main" r:embed="rId7"/>
                </a:ext>
              </a:extLst>
            </a:blip>
            <a:stretch>
              <a:fillRect l="-83" t="0" r="-83" b="0"/>
            </a:stretch>
          </a:blipFill>
        </p:spPr>
      </p:sp>
      <p:pic>
        <p:nvPicPr>
          <p:cNvPr name="Picture 16" id="16"/>
          <p:cNvPicPr>
            <a:picLocks noChangeAspect="true"/>
          </p:cNvPicPr>
          <p:nvPr/>
        </p:nvPicPr>
        <p:blipFill>
          <a:blip r:embed="rId8">
            <a:alphaModFix amt="25000"/>
          </a:blip>
          <a:srcRect l="0" t="0" r="0" b="0"/>
          <a:stretch>
            <a:fillRect/>
          </a:stretch>
        </p:blipFill>
        <p:spPr>
          <a:xfrm flipH="false" flipV="false" rot="1537714">
            <a:off x="236565" y="7195281"/>
            <a:ext cx="3648028" cy="2902732"/>
          </a:xfrm>
          <a:prstGeom prst="rect">
            <a:avLst/>
          </a:prstGeom>
        </p:spPr>
      </p:pic>
      <p:pic>
        <p:nvPicPr>
          <p:cNvPr name="Picture 17" id="17"/>
          <p:cNvPicPr>
            <a:picLocks noChangeAspect="true"/>
          </p:cNvPicPr>
          <p:nvPr/>
        </p:nvPicPr>
        <p:blipFill>
          <a:blip r:embed="rId9">
            <a:alphaModFix amt="25000"/>
          </a:blip>
          <a:srcRect l="0" t="0" r="0" b="0"/>
          <a:stretch>
            <a:fillRect/>
          </a:stretch>
        </p:blipFill>
        <p:spPr>
          <a:xfrm flipH="false" flipV="false" rot="0">
            <a:off x="16159828" y="336518"/>
            <a:ext cx="1718317" cy="1812471"/>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grpSp>
        <p:nvGrpSpPr>
          <p:cNvPr name="Group 2" id="2"/>
          <p:cNvGrpSpPr/>
          <p:nvPr/>
        </p:nvGrpSpPr>
        <p:grpSpPr>
          <a:xfrm rot="0">
            <a:off x="9465034" y="878304"/>
            <a:ext cx="1797669" cy="1851531"/>
            <a:chOff x="0" y="0"/>
            <a:chExt cx="2396892" cy="2468709"/>
          </a:xfrm>
        </p:grpSpPr>
        <p:sp>
          <p:nvSpPr>
            <p:cNvPr name="Freeform 3" id="3"/>
            <p:cNvSpPr/>
            <p:nvPr/>
          </p:nvSpPr>
          <p:spPr>
            <a:xfrm flipH="false" flipV="false" rot="0">
              <a:off x="0" y="0"/>
              <a:ext cx="2396892" cy="2468709"/>
            </a:xfrm>
            <a:custGeom>
              <a:avLst/>
              <a:gdLst/>
              <a:ahLst/>
              <a:cxnLst/>
              <a:rect r="r" b="b" t="t" l="l"/>
              <a:pathLst>
                <a:path h="2468709" w="2396892">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9855" y="796627"/>
              <a:ext cx="1077181" cy="875454"/>
            </a:xfrm>
            <a:custGeom>
              <a:avLst/>
              <a:gdLst/>
              <a:ahLst/>
              <a:cxnLst/>
              <a:rect r="r" b="b" t="t" l="l"/>
              <a:pathLst>
                <a:path h="875454" w="1077181">
                  <a:moveTo>
                    <a:pt x="0" y="0"/>
                  </a:moveTo>
                  <a:lnTo>
                    <a:pt x="1077181" y="0"/>
                  </a:lnTo>
                  <a:lnTo>
                    <a:pt x="1077181" y="875454"/>
                  </a:lnTo>
                  <a:lnTo>
                    <a:pt x="0" y="8754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5" id="5"/>
          <p:cNvSpPr/>
          <p:nvPr/>
        </p:nvSpPr>
        <p:spPr>
          <a:xfrm flipH="false" flipV="false" rot="0">
            <a:off x="9401760" y="5288968"/>
            <a:ext cx="1924218" cy="1798269"/>
          </a:xfrm>
          <a:custGeom>
            <a:avLst/>
            <a:gdLst/>
            <a:ahLst/>
            <a:cxnLst/>
            <a:rect r="r" b="b" t="t" l="l"/>
            <a:pathLst>
              <a:path h="1798269" w="1924218">
                <a:moveTo>
                  <a:pt x="0" y="0"/>
                </a:moveTo>
                <a:lnTo>
                  <a:pt x="1924218" y="0"/>
                </a:lnTo>
                <a:lnTo>
                  <a:pt x="1924218" y="1798269"/>
                </a:lnTo>
                <a:lnTo>
                  <a:pt x="0" y="17982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4036620" y="931567"/>
            <a:ext cx="1924218" cy="1798269"/>
            <a:chOff x="0" y="0"/>
            <a:chExt cx="2565623" cy="2397692"/>
          </a:xfrm>
        </p:grpSpPr>
        <p:sp>
          <p:nvSpPr>
            <p:cNvPr name="Freeform 7" id="7"/>
            <p:cNvSpPr/>
            <p:nvPr/>
          </p:nvSpPr>
          <p:spPr>
            <a:xfrm flipH="false" flipV="false" rot="0">
              <a:off x="0" y="0"/>
              <a:ext cx="2565623" cy="2397692"/>
            </a:xfrm>
            <a:custGeom>
              <a:avLst/>
              <a:gdLst/>
              <a:ahLst/>
              <a:cxnLst/>
              <a:rect r="r" b="b" t="t" l="l"/>
              <a:pathLst>
                <a:path h="2397692" w="2565623">
                  <a:moveTo>
                    <a:pt x="0" y="0"/>
                  </a:moveTo>
                  <a:lnTo>
                    <a:pt x="2565623" y="0"/>
                  </a:lnTo>
                  <a:lnTo>
                    <a:pt x="2565623" y="2397692"/>
                  </a:lnTo>
                  <a:lnTo>
                    <a:pt x="0" y="23976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38997" y="761119"/>
              <a:ext cx="687630" cy="875454"/>
            </a:xfrm>
            <a:custGeom>
              <a:avLst/>
              <a:gdLst/>
              <a:ahLst/>
              <a:cxnLst/>
              <a:rect r="r" b="b" t="t" l="l"/>
              <a:pathLst>
                <a:path h="875454" w="687630">
                  <a:moveTo>
                    <a:pt x="0" y="0"/>
                  </a:moveTo>
                  <a:lnTo>
                    <a:pt x="687629" y="0"/>
                  </a:lnTo>
                  <a:lnTo>
                    <a:pt x="687629" y="875454"/>
                  </a:lnTo>
                  <a:lnTo>
                    <a:pt x="0" y="8754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Freeform 9" id="9"/>
          <p:cNvSpPr/>
          <p:nvPr/>
        </p:nvSpPr>
        <p:spPr>
          <a:xfrm flipH="false" flipV="false" rot="0">
            <a:off x="14099894" y="5235705"/>
            <a:ext cx="1797669" cy="1851531"/>
          </a:xfrm>
          <a:custGeom>
            <a:avLst/>
            <a:gdLst/>
            <a:ahLst/>
            <a:cxnLst/>
            <a:rect r="r" b="b" t="t" l="l"/>
            <a:pathLst>
              <a:path h="1851531" w="1797669">
                <a:moveTo>
                  <a:pt x="0" y="0"/>
                </a:moveTo>
                <a:lnTo>
                  <a:pt x="1797669" y="0"/>
                </a:lnTo>
                <a:lnTo>
                  <a:pt x="1797669" y="1851532"/>
                </a:lnTo>
                <a:lnTo>
                  <a:pt x="0" y="185153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4653442" y="5693719"/>
            <a:ext cx="690572" cy="935505"/>
          </a:xfrm>
          <a:custGeom>
            <a:avLst/>
            <a:gdLst/>
            <a:ahLst/>
            <a:cxnLst/>
            <a:rect r="r" b="b" t="t" l="l"/>
            <a:pathLst>
              <a:path h="935505" w="690572">
                <a:moveTo>
                  <a:pt x="0" y="0"/>
                </a:moveTo>
                <a:lnTo>
                  <a:pt x="690573" y="0"/>
                </a:lnTo>
                <a:lnTo>
                  <a:pt x="690573" y="935504"/>
                </a:lnTo>
                <a:lnTo>
                  <a:pt x="0" y="9355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9912556" y="5795050"/>
            <a:ext cx="902625" cy="786105"/>
          </a:xfrm>
          <a:custGeom>
            <a:avLst/>
            <a:gdLst/>
            <a:ahLst/>
            <a:cxnLst/>
            <a:rect r="r" b="b" t="t" l="l"/>
            <a:pathLst>
              <a:path h="786105" w="902625">
                <a:moveTo>
                  <a:pt x="0" y="0"/>
                </a:moveTo>
                <a:lnTo>
                  <a:pt x="902625" y="0"/>
                </a:lnTo>
                <a:lnTo>
                  <a:pt x="902625" y="786104"/>
                </a:lnTo>
                <a:lnTo>
                  <a:pt x="0" y="7861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1403053" y="3511511"/>
            <a:ext cx="5501342" cy="3105283"/>
          </a:xfrm>
          <a:prstGeom prst="rect">
            <a:avLst/>
          </a:prstGeom>
        </p:spPr>
        <p:txBody>
          <a:bodyPr anchor="t" rtlCol="false" tIns="0" lIns="0" bIns="0" rIns="0">
            <a:spAutoFit/>
          </a:bodyPr>
          <a:lstStyle/>
          <a:p>
            <a:pPr algn="ctr" marL="0" indent="0" lvl="0">
              <a:lnSpc>
                <a:spcPts val="5879"/>
              </a:lnSpc>
              <a:spcBef>
                <a:spcPct val="0"/>
              </a:spcBef>
            </a:pPr>
            <a:r>
              <a:rPr lang="en-US" sz="4899">
                <a:solidFill>
                  <a:srgbClr val="2B2B2B"/>
                </a:solidFill>
                <a:latin typeface="Agrandir"/>
                <a:ea typeface="Agrandir"/>
                <a:cs typeface="Agrandir"/>
                <a:sym typeface="Agrandir"/>
              </a:rPr>
              <a:t>Bonnes pratiques dans le développement des dApps</a:t>
            </a:r>
          </a:p>
        </p:txBody>
      </p:sp>
      <p:grpSp>
        <p:nvGrpSpPr>
          <p:cNvPr name="Group 13" id="13"/>
          <p:cNvGrpSpPr/>
          <p:nvPr/>
        </p:nvGrpSpPr>
        <p:grpSpPr>
          <a:xfrm rot="0">
            <a:off x="8704599" y="3246297"/>
            <a:ext cx="3318539" cy="1585544"/>
            <a:chOff x="0" y="0"/>
            <a:chExt cx="4424719" cy="2114059"/>
          </a:xfrm>
        </p:grpSpPr>
        <p:sp>
          <p:nvSpPr>
            <p:cNvPr name="TextBox 14" id="14"/>
            <p:cNvSpPr txBox="true"/>
            <p:nvPr/>
          </p:nvSpPr>
          <p:spPr>
            <a:xfrm rot="0">
              <a:off x="0" y="-104775"/>
              <a:ext cx="4424719" cy="551056"/>
            </a:xfrm>
            <a:prstGeom prst="rect">
              <a:avLst/>
            </a:prstGeom>
          </p:spPr>
          <p:txBody>
            <a:bodyPr anchor="t" rtlCol="false" tIns="0" lIns="0" bIns="0" rIns="0">
              <a:spAutoFit/>
            </a:bodyPr>
            <a:lstStyle/>
            <a:p>
              <a:pPr algn="ctr" marL="0" indent="0" lvl="0">
                <a:lnSpc>
                  <a:spcPts val="3080"/>
                </a:lnSpc>
                <a:spcBef>
                  <a:spcPct val="0"/>
                </a:spcBef>
              </a:pPr>
              <a:r>
                <a:rPr lang="en-US" b="true" sz="2200">
                  <a:solidFill>
                    <a:srgbClr val="2B2B2B"/>
                  </a:solidFill>
                  <a:latin typeface="Agrandir Bold"/>
                  <a:ea typeface="Agrandir Bold"/>
                  <a:cs typeface="Agrandir Bold"/>
                  <a:sym typeface="Agrandir Bold"/>
                </a:rPr>
                <a:t>Audits de sécurité</a:t>
              </a:r>
            </a:p>
          </p:txBody>
        </p:sp>
        <p:sp>
          <p:nvSpPr>
            <p:cNvPr name="TextBox 15" id="15"/>
            <p:cNvSpPr txBox="true"/>
            <p:nvPr/>
          </p:nvSpPr>
          <p:spPr>
            <a:xfrm rot="0">
              <a:off x="0" y="831863"/>
              <a:ext cx="4424719" cy="1282196"/>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Faire auditer le code par des experts pour déterminer les éventuelles failles de sécurité. </a:t>
              </a:r>
            </a:p>
          </p:txBody>
        </p:sp>
      </p:grpSp>
      <p:grpSp>
        <p:nvGrpSpPr>
          <p:cNvPr name="Group 16" id="16"/>
          <p:cNvGrpSpPr/>
          <p:nvPr/>
        </p:nvGrpSpPr>
        <p:grpSpPr>
          <a:xfrm rot="0">
            <a:off x="8704599" y="7630330"/>
            <a:ext cx="3318539" cy="1976135"/>
            <a:chOff x="0" y="0"/>
            <a:chExt cx="4424719" cy="2634847"/>
          </a:xfrm>
        </p:grpSpPr>
        <p:sp>
          <p:nvSpPr>
            <p:cNvPr name="TextBox 17" id="17"/>
            <p:cNvSpPr txBox="true"/>
            <p:nvPr/>
          </p:nvSpPr>
          <p:spPr>
            <a:xfrm rot="0">
              <a:off x="0" y="-104775"/>
              <a:ext cx="4424719" cy="1071844"/>
            </a:xfrm>
            <a:prstGeom prst="rect">
              <a:avLst/>
            </a:prstGeom>
          </p:spPr>
          <p:txBody>
            <a:bodyPr anchor="t" rtlCol="false" tIns="0" lIns="0" bIns="0" rIns="0">
              <a:spAutoFit/>
            </a:bodyPr>
            <a:lstStyle/>
            <a:p>
              <a:pPr algn="ctr" marL="0" indent="0" lvl="0">
                <a:lnSpc>
                  <a:spcPts val="3080"/>
                </a:lnSpc>
                <a:spcBef>
                  <a:spcPct val="0"/>
                </a:spcBef>
              </a:pPr>
              <a:r>
                <a:rPr lang="en-US" b="true" sz="2200">
                  <a:solidFill>
                    <a:srgbClr val="2B2B2B"/>
                  </a:solidFill>
                  <a:latin typeface="Agrandir Bold"/>
                  <a:ea typeface="Agrandir Bold"/>
                  <a:cs typeface="Agrandir Bold"/>
                  <a:sym typeface="Agrandir Bold"/>
                </a:rPr>
                <a:t>Limitation des fonctionnalités</a:t>
              </a:r>
            </a:p>
          </p:txBody>
        </p:sp>
        <p:sp>
          <p:nvSpPr>
            <p:cNvPr name="TextBox 18" id="18"/>
            <p:cNvSpPr txBox="true"/>
            <p:nvPr/>
          </p:nvSpPr>
          <p:spPr>
            <a:xfrm rot="0">
              <a:off x="0" y="1352651"/>
              <a:ext cx="4424719" cy="1282196"/>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Eviter la surcharge de fonctionnalités qui peut augmenter le risque d’attaque. </a:t>
              </a:r>
            </a:p>
          </p:txBody>
        </p:sp>
      </p:grpSp>
      <p:grpSp>
        <p:nvGrpSpPr>
          <p:cNvPr name="Group 19" id="19"/>
          <p:cNvGrpSpPr/>
          <p:nvPr/>
        </p:nvGrpSpPr>
        <p:grpSpPr>
          <a:xfrm rot="0">
            <a:off x="13339459" y="3246297"/>
            <a:ext cx="3790118" cy="1585544"/>
            <a:chOff x="0" y="0"/>
            <a:chExt cx="5053491" cy="2114059"/>
          </a:xfrm>
        </p:grpSpPr>
        <p:sp>
          <p:nvSpPr>
            <p:cNvPr name="TextBox 20" id="20"/>
            <p:cNvSpPr txBox="true"/>
            <p:nvPr/>
          </p:nvSpPr>
          <p:spPr>
            <a:xfrm rot="0">
              <a:off x="0" y="-104775"/>
              <a:ext cx="5053491" cy="551056"/>
            </a:xfrm>
            <a:prstGeom prst="rect">
              <a:avLst/>
            </a:prstGeom>
          </p:spPr>
          <p:txBody>
            <a:bodyPr anchor="t" rtlCol="false" tIns="0" lIns="0" bIns="0" rIns="0">
              <a:spAutoFit/>
            </a:bodyPr>
            <a:lstStyle/>
            <a:p>
              <a:pPr algn="ctr" marL="0" indent="0" lvl="0">
                <a:lnSpc>
                  <a:spcPts val="3080"/>
                </a:lnSpc>
                <a:spcBef>
                  <a:spcPct val="0"/>
                </a:spcBef>
              </a:pPr>
              <a:r>
                <a:rPr lang="en-US" b="true" sz="2200">
                  <a:solidFill>
                    <a:srgbClr val="2B2B2B"/>
                  </a:solidFill>
                  <a:latin typeface="Agrandir Bold"/>
                  <a:ea typeface="Agrandir Bold"/>
                  <a:cs typeface="Agrandir Bold"/>
                  <a:sym typeface="Agrandir Bold"/>
                </a:rPr>
                <a:t>Mise à jour et maintenance</a:t>
              </a:r>
            </a:p>
          </p:txBody>
        </p:sp>
        <p:sp>
          <p:nvSpPr>
            <p:cNvPr name="TextBox 21" id="21"/>
            <p:cNvSpPr txBox="true"/>
            <p:nvPr/>
          </p:nvSpPr>
          <p:spPr>
            <a:xfrm rot="0">
              <a:off x="0" y="831863"/>
              <a:ext cx="5053491" cy="1282196"/>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Garder les contrats intelligents à jour avec les derniers protocoles de sécurité.</a:t>
              </a:r>
            </a:p>
          </p:txBody>
        </p:sp>
      </p:grpSp>
      <p:grpSp>
        <p:nvGrpSpPr>
          <p:cNvPr name="Group 22" id="22"/>
          <p:cNvGrpSpPr/>
          <p:nvPr/>
        </p:nvGrpSpPr>
        <p:grpSpPr>
          <a:xfrm rot="0">
            <a:off x="13339459" y="7630330"/>
            <a:ext cx="3318539" cy="1976135"/>
            <a:chOff x="0" y="0"/>
            <a:chExt cx="4424719" cy="2634847"/>
          </a:xfrm>
        </p:grpSpPr>
        <p:sp>
          <p:nvSpPr>
            <p:cNvPr name="TextBox 23" id="23"/>
            <p:cNvSpPr txBox="true"/>
            <p:nvPr/>
          </p:nvSpPr>
          <p:spPr>
            <a:xfrm rot="0">
              <a:off x="0" y="-104775"/>
              <a:ext cx="4424719" cy="1071844"/>
            </a:xfrm>
            <a:prstGeom prst="rect">
              <a:avLst/>
            </a:prstGeom>
          </p:spPr>
          <p:txBody>
            <a:bodyPr anchor="t" rtlCol="false" tIns="0" lIns="0" bIns="0" rIns="0">
              <a:spAutoFit/>
            </a:bodyPr>
            <a:lstStyle/>
            <a:p>
              <a:pPr algn="ctr" marL="0" indent="0" lvl="0">
                <a:lnSpc>
                  <a:spcPts val="3080"/>
                </a:lnSpc>
                <a:spcBef>
                  <a:spcPct val="0"/>
                </a:spcBef>
              </a:pPr>
              <a:r>
                <a:rPr lang="en-US" b="true" sz="2200">
                  <a:solidFill>
                    <a:srgbClr val="2B2B2B"/>
                  </a:solidFill>
                  <a:latin typeface="Agrandir Bold"/>
                  <a:ea typeface="Agrandir Bold"/>
                  <a:cs typeface="Agrandir Bold"/>
                  <a:sym typeface="Agrandir Bold"/>
                </a:rPr>
                <a:t>Time Locks et Multi-Signature Wallets</a:t>
              </a:r>
            </a:p>
          </p:txBody>
        </p:sp>
        <p:sp>
          <p:nvSpPr>
            <p:cNvPr name="TextBox 24" id="24"/>
            <p:cNvSpPr txBox="true"/>
            <p:nvPr/>
          </p:nvSpPr>
          <p:spPr>
            <a:xfrm rot="0">
              <a:off x="0" y="1352651"/>
              <a:ext cx="4424719" cy="1282196"/>
            </a:xfrm>
            <a:prstGeom prst="rect">
              <a:avLst/>
            </a:prstGeom>
          </p:spPr>
          <p:txBody>
            <a:bodyPr anchor="t" rtlCol="false" tIns="0" lIns="0" bIns="0" rIns="0">
              <a:spAutoFit/>
            </a:bodyPr>
            <a:lstStyle/>
            <a:p>
              <a:pPr algn="ctr" marL="0" indent="0" lvl="0">
                <a:lnSpc>
                  <a:spcPts val="2520"/>
                </a:lnSpc>
              </a:pPr>
              <a:r>
                <a:rPr lang="en-US" sz="1800">
                  <a:solidFill>
                    <a:srgbClr val="2B2B2B"/>
                  </a:solidFill>
                  <a:latin typeface="Agrandir"/>
                  <a:ea typeface="Agrandir"/>
                  <a:cs typeface="Agrandir"/>
                  <a:sym typeface="Agrandir"/>
                </a:rPr>
                <a:t>Ajouter des couches supplémentaires de sécurité aux transactions. </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E4E3"/>
        </a:solidFill>
      </p:bgPr>
    </p:bg>
    <p:spTree>
      <p:nvGrpSpPr>
        <p:cNvPr id="1" name=""/>
        <p:cNvGrpSpPr/>
        <p:nvPr/>
      </p:nvGrpSpPr>
      <p:grpSpPr>
        <a:xfrm>
          <a:off x="0" y="0"/>
          <a:ext cx="0" cy="0"/>
          <a:chOff x="0" y="0"/>
          <a:chExt cx="0" cy="0"/>
        </a:xfrm>
      </p:grpSpPr>
      <p:grpSp>
        <p:nvGrpSpPr>
          <p:cNvPr name="Group 2" id="2"/>
          <p:cNvGrpSpPr/>
          <p:nvPr/>
        </p:nvGrpSpPr>
        <p:grpSpPr>
          <a:xfrm rot="0">
            <a:off x="3129731" y="3506567"/>
            <a:ext cx="4393625" cy="2945089"/>
            <a:chOff x="0" y="0"/>
            <a:chExt cx="5858166" cy="3926785"/>
          </a:xfrm>
        </p:grpSpPr>
        <p:sp>
          <p:nvSpPr>
            <p:cNvPr name="TextBox 3" id="3"/>
            <p:cNvSpPr txBox="true"/>
            <p:nvPr/>
          </p:nvSpPr>
          <p:spPr>
            <a:xfrm rot="0">
              <a:off x="0" y="-123825"/>
              <a:ext cx="5858166" cy="689354"/>
            </a:xfrm>
            <a:prstGeom prst="rect">
              <a:avLst/>
            </a:prstGeom>
          </p:spPr>
          <p:txBody>
            <a:bodyPr anchor="t" rtlCol="false" tIns="0" lIns="0" bIns="0" rIns="0">
              <a:spAutoFit/>
            </a:bodyPr>
            <a:lstStyle/>
            <a:p>
              <a:pPr algn="l" marL="0" indent="0" lvl="0">
                <a:lnSpc>
                  <a:spcPts val="3920"/>
                </a:lnSpc>
                <a:spcBef>
                  <a:spcPct val="0"/>
                </a:spcBef>
              </a:pPr>
              <a:r>
                <a:rPr lang="en-US" b="true" sz="2800">
                  <a:solidFill>
                    <a:srgbClr val="2B2B2B"/>
                  </a:solidFill>
                  <a:latin typeface="Agrandir Bold"/>
                  <a:ea typeface="Agrandir Bold"/>
                  <a:cs typeface="Agrandir Bold"/>
                  <a:sym typeface="Agrandir Bold"/>
                </a:rPr>
                <a:t>Emergency Stop </a:t>
              </a:r>
            </a:p>
          </p:txBody>
        </p:sp>
        <p:sp>
          <p:nvSpPr>
            <p:cNvPr name="TextBox 4" id="4"/>
            <p:cNvSpPr txBox="true"/>
            <p:nvPr/>
          </p:nvSpPr>
          <p:spPr>
            <a:xfrm rot="0">
              <a:off x="0" y="771788"/>
              <a:ext cx="5858166" cy="3154997"/>
            </a:xfrm>
            <a:prstGeom prst="rect">
              <a:avLst/>
            </a:prstGeom>
          </p:spPr>
          <p:txBody>
            <a:bodyPr anchor="t" rtlCol="false" tIns="0" lIns="0" bIns="0" rIns="0">
              <a:spAutoFit/>
            </a:bodyPr>
            <a:lstStyle/>
            <a:p>
              <a:pPr algn="l" marL="0" indent="0" lvl="0">
                <a:lnSpc>
                  <a:spcPts val="3080"/>
                </a:lnSpc>
              </a:pPr>
              <a:r>
                <a:rPr lang="en-US" sz="2200">
                  <a:solidFill>
                    <a:srgbClr val="2B2B2B"/>
                  </a:solidFill>
                  <a:latin typeface="Agrandir"/>
                  <a:ea typeface="Agrandir"/>
                  <a:cs typeface="Agrandir"/>
                  <a:sym typeface="Agrandir"/>
                </a:rPr>
                <a:t>Incorporer dans le contrat une fonction d'arrêt d'urgence qui peut être déclenchée par une partie authentifiée afin de désactiver les fonctions sensibles.</a:t>
              </a:r>
            </a:p>
          </p:txBody>
        </p:sp>
      </p:grpSp>
      <p:sp>
        <p:nvSpPr>
          <p:cNvPr name="TextBox 5" id="5"/>
          <p:cNvSpPr txBox="true"/>
          <p:nvPr/>
        </p:nvSpPr>
        <p:spPr>
          <a:xfrm rot="0">
            <a:off x="1309180" y="506936"/>
            <a:ext cx="15669640" cy="1752468"/>
          </a:xfrm>
          <a:prstGeom prst="rect">
            <a:avLst/>
          </a:prstGeom>
        </p:spPr>
        <p:txBody>
          <a:bodyPr anchor="t" rtlCol="false" tIns="0" lIns="0" bIns="0" rIns="0">
            <a:spAutoFit/>
          </a:bodyPr>
          <a:lstStyle/>
          <a:p>
            <a:pPr algn="ctr" marL="0" indent="0" lvl="0">
              <a:lnSpc>
                <a:spcPts val="6360"/>
              </a:lnSpc>
              <a:spcBef>
                <a:spcPct val="0"/>
              </a:spcBef>
            </a:pPr>
            <a:r>
              <a:rPr lang="en-US" b="true" sz="5300">
                <a:solidFill>
                  <a:srgbClr val="2B2B2B"/>
                </a:solidFill>
                <a:latin typeface="Agrandir Bold"/>
                <a:ea typeface="Agrandir Bold"/>
                <a:cs typeface="Agrandir Bold"/>
                <a:sym typeface="Agrandir Bold"/>
              </a:rPr>
              <a:t>Bonnes pratiques pour le développement des dApps</a:t>
            </a:r>
          </a:p>
        </p:txBody>
      </p:sp>
      <p:grpSp>
        <p:nvGrpSpPr>
          <p:cNvPr name="Group 6" id="6"/>
          <p:cNvGrpSpPr/>
          <p:nvPr/>
        </p:nvGrpSpPr>
        <p:grpSpPr>
          <a:xfrm rot="0">
            <a:off x="10764644" y="3930383"/>
            <a:ext cx="4393625" cy="1773315"/>
            <a:chOff x="0" y="0"/>
            <a:chExt cx="5858166" cy="2364420"/>
          </a:xfrm>
        </p:grpSpPr>
        <p:sp>
          <p:nvSpPr>
            <p:cNvPr name="TextBox 7" id="7"/>
            <p:cNvSpPr txBox="true"/>
            <p:nvPr/>
          </p:nvSpPr>
          <p:spPr>
            <a:xfrm rot="0">
              <a:off x="0" y="-123825"/>
              <a:ext cx="5858166" cy="689354"/>
            </a:xfrm>
            <a:prstGeom prst="rect">
              <a:avLst/>
            </a:prstGeom>
          </p:spPr>
          <p:txBody>
            <a:bodyPr anchor="t" rtlCol="false" tIns="0" lIns="0" bIns="0" rIns="0">
              <a:spAutoFit/>
            </a:bodyPr>
            <a:lstStyle/>
            <a:p>
              <a:pPr algn="l" marL="0" indent="0" lvl="0">
                <a:lnSpc>
                  <a:spcPts val="3920"/>
                </a:lnSpc>
                <a:spcBef>
                  <a:spcPct val="0"/>
                </a:spcBef>
              </a:pPr>
              <a:r>
                <a:rPr lang="en-US" b="true" sz="2800">
                  <a:solidFill>
                    <a:srgbClr val="2B2B2B"/>
                  </a:solidFill>
                  <a:latin typeface="Agrandir Bold"/>
                  <a:ea typeface="Agrandir Bold"/>
                  <a:cs typeface="Agrandir Bold"/>
                  <a:sym typeface="Agrandir Bold"/>
                </a:rPr>
                <a:t>Lazy Evaluation</a:t>
              </a:r>
            </a:p>
          </p:txBody>
        </p:sp>
        <p:sp>
          <p:nvSpPr>
            <p:cNvPr name="TextBox 8" id="8"/>
            <p:cNvSpPr txBox="true"/>
            <p:nvPr/>
          </p:nvSpPr>
          <p:spPr>
            <a:xfrm rot="0">
              <a:off x="0" y="771788"/>
              <a:ext cx="5858166" cy="1592632"/>
            </a:xfrm>
            <a:prstGeom prst="rect">
              <a:avLst/>
            </a:prstGeom>
          </p:spPr>
          <p:txBody>
            <a:bodyPr anchor="t" rtlCol="false" tIns="0" lIns="0" bIns="0" rIns="0">
              <a:spAutoFit/>
            </a:bodyPr>
            <a:lstStyle/>
            <a:p>
              <a:pPr algn="l" marL="0" indent="0" lvl="0">
                <a:lnSpc>
                  <a:spcPts val="3080"/>
                </a:lnSpc>
              </a:pPr>
              <a:r>
                <a:rPr lang="en-US" sz="2200">
                  <a:solidFill>
                    <a:srgbClr val="2B2B2B"/>
                  </a:solidFill>
                  <a:latin typeface="Agrandir"/>
                  <a:ea typeface="Agrandir"/>
                  <a:cs typeface="Agrandir"/>
                  <a:sym typeface="Agrandir"/>
                </a:rPr>
                <a:t>Retarder les calculs jusqu’au moment ou ils sont strictement nécessaires. </a:t>
              </a:r>
            </a:p>
          </p:txBody>
        </p:sp>
      </p:grpSp>
      <p:grpSp>
        <p:nvGrpSpPr>
          <p:cNvPr name="Group 9" id="9"/>
          <p:cNvGrpSpPr/>
          <p:nvPr/>
        </p:nvGrpSpPr>
        <p:grpSpPr>
          <a:xfrm rot="0">
            <a:off x="3129731" y="7089831"/>
            <a:ext cx="4393625" cy="2163906"/>
            <a:chOff x="0" y="0"/>
            <a:chExt cx="5858166" cy="2885208"/>
          </a:xfrm>
        </p:grpSpPr>
        <p:sp>
          <p:nvSpPr>
            <p:cNvPr name="TextBox 10" id="10"/>
            <p:cNvSpPr txBox="true"/>
            <p:nvPr/>
          </p:nvSpPr>
          <p:spPr>
            <a:xfrm rot="0">
              <a:off x="0" y="-123825"/>
              <a:ext cx="5858166" cy="689354"/>
            </a:xfrm>
            <a:prstGeom prst="rect">
              <a:avLst/>
            </a:prstGeom>
          </p:spPr>
          <p:txBody>
            <a:bodyPr anchor="t" rtlCol="false" tIns="0" lIns="0" bIns="0" rIns="0">
              <a:spAutoFit/>
            </a:bodyPr>
            <a:lstStyle/>
            <a:p>
              <a:pPr algn="l" marL="0" indent="0" lvl="0">
                <a:lnSpc>
                  <a:spcPts val="3920"/>
                </a:lnSpc>
                <a:spcBef>
                  <a:spcPct val="0"/>
                </a:spcBef>
              </a:pPr>
              <a:r>
                <a:rPr lang="en-US" b="true" sz="2800">
                  <a:solidFill>
                    <a:srgbClr val="2B2B2B"/>
                  </a:solidFill>
                  <a:latin typeface="Agrandir Bold"/>
                  <a:ea typeface="Agrandir Bold"/>
                  <a:cs typeface="Agrandir Bold"/>
                  <a:sym typeface="Agrandir Bold"/>
                </a:rPr>
                <a:t>Mutex pattern </a:t>
              </a:r>
            </a:p>
          </p:txBody>
        </p:sp>
        <p:sp>
          <p:nvSpPr>
            <p:cNvPr name="TextBox 11" id="11"/>
            <p:cNvSpPr txBox="true"/>
            <p:nvPr/>
          </p:nvSpPr>
          <p:spPr>
            <a:xfrm rot="0">
              <a:off x="0" y="771788"/>
              <a:ext cx="5858166" cy="2113421"/>
            </a:xfrm>
            <a:prstGeom prst="rect">
              <a:avLst/>
            </a:prstGeom>
          </p:spPr>
          <p:txBody>
            <a:bodyPr anchor="t" rtlCol="false" tIns="0" lIns="0" bIns="0" rIns="0">
              <a:spAutoFit/>
            </a:bodyPr>
            <a:lstStyle/>
            <a:p>
              <a:pPr algn="l" marL="0" indent="0" lvl="0">
                <a:lnSpc>
                  <a:spcPts val="3080"/>
                </a:lnSpc>
              </a:pPr>
              <a:r>
                <a:rPr lang="en-US" sz="2200">
                  <a:solidFill>
                    <a:srgbClr val="2B2B2B"/>
                  </a:solidFill>
                  <a:latin typeface="Agrandir"/>
                  <a:ea typeface="Agrandir"/>
                  <a:cs typeface="Agrandir"/>
                  <a:sym typeface="Agrandir"/>
                </a:rPr>
                <a:t>Utiliser un mutex pour empêcher un appel externe d'entrer à nouveau dans la fonction qui l'a appelé.</a:t>
              </a:r>
            </a:p>
          </p:txBody>
        </p:sp>
      </p:grpSp>
      <p:grpSp>
        <p:nvGrpSpPr>
          <p:cNvPr name="Group 12" id="12"/>
          <p:cNvGrpSpPr/>
          <p:nvPr/>
        </p:nvGrpSpPr>
        <p:grpSpPr>
          <a:xfrm rot="0">
            <a:off x="10707494" y="7089831"/>
            <a:ext cx="4507925" cy="2163906"/>
            <a:chOff x="0" y="0"/>
            <a:chExt cx="6010566" cy="2885208"/>
          </a:xfrm>
        </p:grpSpPr>
        <p:sp>
          <p:nvSpPr>
            <p:cNvPr name="TextBox 13" id="13"/>
            <p:cNvSpPr txBox="true"/>
            <p:nvPr/>
          </p:nvSpPr>
          <p:spPr>
            <a:xfrm rot="0">
              <a:off x="0" y="-123825"/>
              <a:ext cx="6010566" cy="689354"/>
            </a:xfrm>
            <a:prstGeom prst="rect">
              <a:avLst/>
            </a:prstGeom>
          </p:spPr>
          <p:txBody>
            <a:bodyPr anchor="t" rtlCol="false" tIns="0" lIns="0" bIns="0" rIns="0">
              <a:spAutoFit/>
            </a:bodyPr>
            <a:lstStyle/>
            <a:p>
              <a:pPr algn="l" marL="0" indent="0" lvl="0">
                <a:lnSpc>
                  <a:spcPts val="3920"/>
                </a:lnSpc>
                <a:spcBef>
                  <a:spcPct val="0"/>
                </a:spcBef>
              </a:pPr>
              <a:r>
                <a:rPr lang="en-US" b="true" sz="2800">
                  <a:solidFill>
                    <a:srgbClr val="2B2B2B"/>
                  </a:solidFill>
                  <a:latin typeface="Agrandir Bold"/>
                  <a:ea typeface="Agrandir Bold"/>
                  <a:cs typeface="Agrandir Bold"/>
                  <a:sym typeface="Agrandir Bold"/>
                </a:rPr>
                <a:t>Gaz Reporting</a:t>
              </a:r>
            </a:p>
          </p:txBody>
        </p:sp>
        <p:sp>
          <p:nvSpPr>
            <p:cNvPr name="TextBox 14" id="14"/>
            <p:cNvSpPr txBox="true"/>
            <p:nvPr/>
          </p:nvSpPr>
          <p:spPr>
            <a:xfrm rot="0">
              <a:off x="0" y="771788"/>
              <a:ext cx="6010566" cy="2113421"/>
            </a:xfrm>
            <a:prstGeom prst="rect">
              <a:avLst/>
            </a:prstGeom>
          </p:spPr>
          <p:txBody>
            <a:bodyPr anchor="t" rtlCol="false" tIns="0" lIns="0" bIns="0" rIns="0">
              <a:spAutoFit/>
            </a:bodyPr>
            <a:lstStyle/>
            <a:p>
              <a:pPr algn="l" marL="0" indent="0" lvl="0">
                <a:lnSpc>
                  <a:spcPts val="3080"/>
                </a:lnSpc>
              </a:pPr>
              <a:r>
                <a:rPr lang="en-US" sz="2200">
                  <a:solidFill>
                    <a:srgbClr val="2B2B2B"/>
                  </a:solidFill>
                  <a:latin typeface="Agrandir"/>
                  <a:ea typeface="Agrandir"/>
                  <a:cs typeface="Agrandir"/>
                  <a:sym typeface="Agrandir"/>
                </a:rPr>
                <a:t>Utilisations d’outils tels que </a:t>
              </a:r>
              <a:r>
                <a:rPr lang="en-US" sz="2200">
                  <a:solidFill>
                    <a:srgbClr val="2B2B2B"/>
                  </a:solidFill>
                  <a:latin typeface="Agrandir"/>
                  <a:ea typeface="Agrandir"/>
                  <a:cs typeface="Agrandir"/>
                  <a:sym typeface="Agrandir"/>
                </a:rPr>
                <a:t>eth-gas-reporter pour surveiller la consommation de gaz pendant les tests. </a:t>
              </a:r>
            </a:p>
          </p:txBody>
        </p:sp>
      </p:grpSp>
      <p:sp>
        <p:nvSpPr>
          <p:cNvPr name="TextBox 15" id="15"/>
          <p:cNvSpPr txBox="true"/>
          <p:nvPr/>
        </p:nvSpPr>
        <p:spPr>
          <a:xfrm rot="0">
            <a:off x="1309180" y="2666301"/>
            <a:ext cx="15669640" cy="733359"/>
          </a:xfrm>
          <a:prstGeom prst="rect">
            <a:avLst/>
          </a:prstGeom>
        </p:spPr>
        <p:txBody>
          <a:bodyPr anchor="t" rtlCol="false" tIns="0" lIns="0" bIns="0" rIns="0">
            <a:spAutoFit/>
          </a:bodyPr>
          <a:lstStyle/>
          <a:p>
            <a:pPr algn="ctr" marL="0" indent="0" lvl="0">
              <a:lnSpc>
                <a:spcPts val="4800"/>
              </a:lnSpc>
              <a:spcBef>
                <a:spcPct val="0"/>
              </a:spcBef>
            </a:pPr>
            <a:r>
              <a:rPr lang="en-US" sz="4000">
                <a:solidFill>
                  <a:srgbClr val="2B2B2B"/>
                </a:solidFill>
                <a:latin typeface="Agrandir"/>
                <a:ea typeface="Agrandir"/>
                <a:cs typeface="Agrandir"/>
                <a:sym typeface="Agrandir"/>
              </a:rPr>
              <a:t>Les design patterns</a:t>
            </a:r>
          </a:p>
        </p:txBody>
      </p:sp>
      <p:pic>
        <p:nvPicPr>
          <p:cNvPr name="Picture 16" id="16"/>
          <p:cNvPicPr>
            <a:picLocks noChangeAspect="true"/>
          </p:cNvPicPr>
          <p:nvPr/>
        </p:nvPicPr>
        <p:blipFill>
          <a:blip r:embed="rId2">
            <a:alphaModFix amt="32999"/>
          </a:blip>
          <a:srcRect l="0" t="0" r="0" b="0"/>
          <a:stretch>
            <a:fillRect/>
          </a:stretch>
        </p:blipFill>
        <p:spPr>
          <a:xfrm flipH="false" flipV="false" rot="0">
            <a:off x="14263181" y="7141973"/>
            <a:ext cx="2606777" cy="2909996"/>
          </a:xfrm>
          <a:prstGeom prst="rect">
            <a:avLst/>
          </a:prstGeom>
        </p:spPr>
      </p:pic>
      <p:pic>
        <p:nvPicPr>
          <p:cNvPr name="Picture 17" id="17"/>
          <p:cNvPicPr>
            <a:picLocks noChangeAspect="true"/>
          </p:cNvPicPr>
          <p:nvPr/>
        </p:nvPicPr>
        <p:blipFill>
          <a:blip r:embed="rId3">
            <a:alphaModFix amt="25000"/>
          </a:blip>
          <a:srcRect l="0" t="0" r="0" b="0"/>
          <a:stretch>
            <a:fillRect/>
          </a:stretch>
        </p:blipFill>
        <p:spPr>
          <a:xfrm flipH="false" flipV="false" rot="0">
            <a:off x="1028700" y="2618022"/>
            <a:ext cx="3253495" cy="3247747"/>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sp>
        <p:nvSpPr>
          <p:cNvPr name="Freeform 2" id="2"/>
          <p:cNvSpPr/>
          <p:nvPr/>
        </p:nvSpPr>
        <p:spPr>
          <a:xfrm flipH="false" flipV="false" rot="0">
            <a:off x="16921370" y="991777"/>
            <a:ext cx="337930" cy="337930"/>
          </a:xfrm>
          <a:custGeom>
            <a:avLst/>
            <a:gdLst/>
            <a:ahLst/>
            <a:cxnLst/>
            <a:rect r="r" b="b" t="t" l="l"/>
            <a:pathLst>
              <a:path h="337930" w="337930">
                <a:moveTo>
                  <a:pt x="0" y="0"/>
                </a:moveTo>
                <a:lnTo>
                  <a:pt x="337930" y="0"/>
                </a:lnTo>
                <a:lnTo>
                  <a:pt x="337930" y="337930"/>
                </a:lnTo>
                <a:lnTo>
                  <a:pt x="0" y="337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alphaModFix amt="25000"/>
          </a:blip>
          <a:srcRect l="0" t="0" r="0" b="0"/>
          <a:stretch>
            <a:fillRect/>
          </a:stretch>
        </p:blipFill>
        <p:spPr>
          <a:xfrm flipH="false" flipV="false" rot="-2932469">
            <a:off x="-2250397" y="-2887322"/>
            <a:ext cx="14388035" cy="16061643"/>
          </a:xfrm>
          <a:prstGeom prst="rect">
            <a:avLst/>
          </a:prstGeom>
        </p:spPr>
      </p:pic>
      <p:sp>
        <p:nvSpPr>
          <p:cNvPr name="Freeform 4" id="4"/>
          <p:cNvSpPr/>
          <p:nvPr/>
        </p:nvSpPr>
        <p:spPr>
          <a:xfrm flipH="false" flipV="false" rot="0">
            <a:off x="2248095" y="2674999"/>
            <a:ext cx="7740839" cy="6477300"/>
          </a:xfrm>
          <a:custGeom>
            <a:avLst/>
            <a:gdLst/>
            <a:ahLst/>
            <a:cxnLst/>
            <a:rect r="r" b="b" t="t" l="l"/>
            <a:pathLst>
              <a:path h="6477300" w="7740839">
                <a:moveTo>
                  <a:pt x="0" y="0"/>
                </a:moveTo>
                <a:lnTo>
                  <a:pt x="7740839" y="0"/>
                </a:lnTo>
                <a:lnTo>
                  <a:pt x="7740839" y="6477301"/>
                </a:lnTo>
                <a:lnTo>
                  <a:pt x="0" y="6477301"/>
                </a:lnTo>
                <a:lnTo>
                  <a:pt x="0" y="0"/>
                </a:lnTo>
                <a:close/>
              </a:path>
            </a:pathLst>
          </a:custGeom>
          <a:blipFill>
            <a:blip r:embed="rId5"/>
            <a:stretch>
              <a:fillRect l="0" t="0" r="0" b="0"/>
            </a:stretch>
          </a:blipFill>
        </p:spPr>
      </p:sp>
      <p:sp>
        <p:nvSpPr>
          <p:cNvPr name="Freeform 5" id="5"/>
          <p:cNvSpPr/>
          <p:nvPr/>
        </p:nvSpPr>
        <p:spPr>
          <a:xfrm flipH="false" flipV="false" rot="0">
            <a:off x="10886814" y="2674999"/>
            <a:ext cx="5606796" cy="6477300"/>
          </a:xfrm>
          <a:custGeom>
            <a:avLst/>
            <a:gdLst/>
            <a:ahLst/>
            <a:cxnLst/>
            <a:rect r="r" b="b" t="t" l="l"/>
            <a:pathLst>
              <a:path h="6477300" w="5606796">
                <a:moveTo>
                  <a:pt x="0" y="0"/>
                </a:moveTo>
                <a:lnTo>
                  <a:pt x="5606796" y="0"/>
                </a:lnTo>
                <a:lnTo>
                  <a:pt x="5606796" y="6477301"/>
                </a:lnTo>
                <a:lnTo>
                  <a:pt x="0" y="6477301"/>
                </a:lnTo>
                <a:lnTo>
                  <a:pt x="0" y="0"/>
                </a:lnTo>
                <a:close/>
              </a:path>
            </a:pathLst>
          </a:custGeom>
          <a:blipFill>
            <a:blip r:embed="rId6"/>
            <a:stretch>
              <a:fillRect l="0" t="0" r="0" b="0"/>
            </a:stretch>
          </a:blipFill>
        </p:spPr>
      </p:sp>
      <p:sp>
        <p:nvSpPr>
          <p:cNvPr name="TextBox 6" id="6"/>
          <p:cNvSpPr txBox="true"/>
          <p:nvPr/>
        </p:nvSpPr>
        <p:spPr>
          <a:xfrm rot="0">
            <a:off x="2382440" y="377273"/>
            <a:ext cx="13523119" cy="1752468"/>
          </a:xfrm>
          <a:prstGeom prst="rect">
            <a:avLst/>
          </a:prstGeom>
        </p:spPr>
        <p:txBody>
          <a:bodyPr anchor="t" rtlCol="false" tIns="0" lIns="0" bIns="0" rIns="0">
            <a:spAutoFit/>
          </a:bodyPr>
          <a:lstStyle/>
          <a:p>
            <a:pPr algn="ctr" marL="0" indent="0" lvl="0">
              <a:lnSpc>
                <a:spcPts val="6360"/>
              </a:lnSpc>
              <a:spcBef>
                <a:spcPct val="0"/>
              </a:spcBef>
            </a:pPr>
            <a:r>
              <a:rPr lang="en-US" b="true" sz="5300">
                <a:solidFill>
                  <a:srgbClr val="2B2B2B"/>
                </a:solidFill>
                <a:latin typeface="Agrandir Bold"/>
                <a:ea typeface="Agrandir Bold"/>
                <a:cs typeface="Agrandir Bold"/>
                <a:sym typeface="Agrandir Bold"/>
              </a:rPr>
              <a:t>Exemples de code pour les design patterns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5000"/>
          </a:blip>
          <a:srcRect l="0" t="0" r="0" b="0"/>
          <a:stretch>
            <a:fillRect/>
          </a:stretch>
        </p:blipFill>
        <p:spPr>
          <a:xfrm flipH="false" flipV="false" rot="0">
            <a:off x="-1735802" y="6127410"/>
            <a:ext cx="8195029" cy="7569869"/>
          </a:xfrm>
          <a:prstGeom prst="rect">
            <a:avLst/>
          </a:prstGeom>
        </p:spPr>
      </p:pic>
      <p:sp>
        <p:nvSpPr>
          <p:cNvPr name="TextBox 3" id="3"/>
          <p:cNvSpPr txBox="true"/>
          <p:nvPr/>
        </p:nvSpPr>
        <p:spPr>
          <a:xfrm rot="0">
            <a:off x="1309180" y="506936"/>
            <a:ext cx="15669640" cy="1752468"/>
          </a:xfrm>
          <a:prstGeom prst="rect">
            <a:avLst/>
          </a:prstGeom>
        </p:spPr>
        <p:txBody>
          <a:bodyPr anchor="t" rtlCol="false" tIns="0" lIns="0" bIns="0" rIns="0">
            <a:spAutoFit/>
          </a:bodyPr>
          <a:lstStyle/>
          <a:p>
            <a:pPr algn="ctr" marL="0" indent="0" lvl="0">
              <a:lnSpc>
                <a:spcPts val="6360"/>
              </a:lnSpc>
              <a:spcBef>
                <a:spcPct val="0"/>
              </a:spcBef>
            </a:pPr>
            <a:r>
              <a:rPr lang="en-US" b="true" sz="5300">
                <a:solidFill>
                  <a:srgbClr val="2B2B2B"/>
                </a:solidFill>
                <a:latin typeface="Agrandir Bold"/>
                <a:ea typeface="Agrandir Bold"/>
                <a:cs typeface="Agrandir Bold"/>
                <a:sym typeface="Agrandir Bold"/>
              </a:rPr>
              <a:t>Normes de sécurité pour le développement des applications basées sur la blockchain</a:t>
            </a:r>
          </a:p>
        </p:txBody>
      </p:sp>
      <p:grpSp>
        <p:nvGrpSpPr>
          <p:cNvPr name="Group 4" id="4"/>
          <p:cNvGrpSpPr/>
          <p:nvPr/>
        </p:nvGrpSpPr>
        <p:grpSpPr>
          <a:xfrm rot="0">
            <a:off x="2486416" y="3373188"/>
            <a:ext cx="5334036" cy="2496609"/>
            <a:chOff x="0" y="0"/>
            <a:chExt cx="7112048" cy="3328812"/>
          </a:xfrm>
        </p:grpSpPr>
        <p:sp>
          <p:nvSpPr>
            <p:cNvPr name="TextBox 5" id="5"/>
            <p:cNvSpPr txBox="true"/>
            <p:nvPr/>
          </p:nvSpPr>
          <p:spPr>
            <a:xfrm rot="0">
              <a:off x="0" y="-104775"/>
              <a:ext cx="7112048" cy="10718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2B2B2B"/>
                  </a:solidFill>
                  <a:latin typeface="Agrandir Bold"/>
                  <a:ea typeface="Agrandir Bold"/>
                  <a:cs typeface="Agrandir Bold"/>
                  <a:sym typeface="Agrandir Bold"/>
                </a:rPr>
                <a:t>ISO/IEC 27001, OWASP, NIST SP 800-53</a:t>
              </a:r>
            </a:p>
          </p:txBody>
        </p:sp>
        <p:sp>
          <p:nvSpPr>
            <p:cNvPr name="TextBox 6" id="6"/>
            <p:cNvSpPr txBox="true"/>
            <p:nvPr/>
          </p:nvSpPr>
          <p:spPr>
            <a:xfrm rot="0">
              <a:off x="0" y="1208326"/>
              <a:ext cx="7112048" cy="2120486"/>
            </a:xfrm>
            <a:prstGeom prst="rect">
              <a:avLst/>
            </a:prstGeom>
          </p:spPr>
          <p:txBody>
            <a:bodyPr anchor="t" rtlCol="false" tIns="0" lIns="0" bIns="0" rIns="0">
              <a:spAutoFit/>
            </a:bodyPr>
            <a:lstStyle/>
            <a:p>
              <a:pPr algn="l">
                <a:lnSpc>
                  <a:spcPts val="2520"/>
                </a:lnSpc>
              </a:pPr>
              <a:r>
                <a:rPr lang="en-US" sz="1800">
                  <a:solidFill>
                    <a:srgbClr val="2B2B2B"/>
                  </a:solidFill>
                  <a:latin typeface="Agrandir"/>
                  <a:ea typeface="Agrandir"/>
                  <a:cs typeface="Agrandir"/>
                  <a:sym typeface="Agrandir"/>
                </a:rPr>
                <a:t>Ils définissent les règles de conduite à respecter dans le processus de développement des logiciels en général et s’appliquent aux applications basées sur la blockchain. </a:t>
              </a:r>
            </a:p>
            <a:p>
              <a:pPr algn="l" marL="0" indent="0" lvl="0">
                <a:lnSpc>
                  <a:spcPts val="2520"/>
                </a:lnSpc>
              </a:pPr>
            </a:p>
          </p:txBody>
        </p:sp>
      </p:grpSp>
      <p:grpSp>
        <p:nvGrpSpPr>
          <p:cNvPr name="Group 7" id="7"/>
          <p:cNvGrpSpPr/>
          <p:nvPr/>
        </p:nvGrpSpPr>
        <p:grpSpPr>
          <a:xfrm rot="0">
            <a:off x="10467549" y="3373188"/>
            <a:ext cx="5334036" cy="1791660"/>
            <a:chOff x="0" y="0"/>
            <a:chExt cx="7112048" cy="2388879"/>
          </a:xfrm>
        </p:grpSpPr>
        <p:sp>
          <p:nvSpPr>
            <p:cNvPr name="TextBox 8" id="8"/>
            <p:cNvSpPr txBox="true"/>
            <p:nvPr/>
          </p:nvSpPr>
          <p:spPr>
            <a:xfrm rot="0">
              <a:off x="0" y="-104775"/>
              <a:ext cx="7112048" cy="551057"/>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2B2B2B"/>
                  </a:solidFill>
                  <a:latin typeface="Agrandir Bold"/>
                  <a:ea typeface="Agrandir Bold"/>
                  <a:cs typeface="Agrandir Bold"/>
                  <a:sym typeface="Agrandir Bold"/>
                </a:rPr>
                <a:t>ISO/TC 307 </a:t>
              </a:r>
            </a:p>
          </p:txBody>
        </p:sp>
        <p:sp>
          <p:nvSpPr>
            <p:cNvPr name="TextBox 9" id="9"/>
            <p:cNvSpPr txBox="true"/>
            <p:nvPr/>
          </p:nvSpPr>
          <p:spPr>
            <a:xfrm rot="0">
              <a:off x="0" y="687538"/>
              <a:ext cx="7112048" cy="1701342"/>
            </a:xfrm>
            <a:prstGeom prst="rect">
              <a:avLst/>
            </a:prstGeom>
          </p:spPr>
          <p:txBody>
            <a:bodyPr anchor="t" rtlCol="false" tIns="0" lIns="0" bIns="0" rIns="0">
              <a:spAutoFit/>
            </a:bodyPr>
            <a:lstStyle/>
            <a:p>
              <a:pPr algn="l">
                <a:lnSpc>
                  <a:spcPts val="2520"/>
                </a:lnSpc>
              </a:pPr>
              <a:r>
                <a:rPr lang="en-US" sz="1800">
                  <a:solidFill>
                    <a:srgbClr val="2B2B2B"/>
                  </a:solidFill>
                  <a:latin typeface="Agrandir"/>
                  <a:ea typeface="Agrandir"/>
                  <a:cs typeface="Agrandir"/>
                  <a:sym typeface="Agrandir"/>
                </a:rPr>
                <a:t>Normes spécifiques pour la blockchain, notamment pour la sécurité, l'interopérabilité et la gestion des risques.</a:t>
              </a:r>
            </a:p>
            <a:p>
              <a:pPr algn="l" marL="0" indent="0" lvl="0">
                <a:lnSpc>
                  <a:spcPts val="2520"/>
                </a:lnSpc>
              </a:pPr>
            </a:p>
          </p:txBody>
        </p:sp>
      </p:grpSp>
      <p:grpSp>
        <p:nvGrpSpPr>
          <p:cNvPr name="Group 10" id="10"/>
          <p:cNvGrpSpPr/>
          <p:nvPr/>
        </p:nvGrpSpPr>
        <p:grpSpPr>
          <a:xfrm rot="0">
            <a:off x="2466957" y="6240356"/>
            <a:ext cx="5334036" cy="1477301"/>
            <a:chOff x="0" y="0"/>
            <a:chExt cx="7112048" cy="1969735"/>
          </a:xfrm>
        </p:grpSpPr>
        <p:sp>
          <p:nvSpPr>
            <p:cNvPr name="TextBox 11" id="11"/>
            <p:cNvSpPr txBox="true"/>
            <p:nvPr/>
          </p:nvSpPr>
          <p:spPr>
            <a:xfrm rot="0">
              <a:off x="0" y="-104775"/>
              <a:ext cx="7112048" cy="551057"/>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2B2B2B"/>
                  </a:solidFill>
                  <a:latin typeface="Agrandir Bold"/>
                  <a:ea typeface="Agrandir Bold"/>
                  <a:cs typeface="Agrandir Bold"/>
                  <a:sym typeface="Agrandir Bold"/>
                </a:rPr>
                <a:t>NIST Blockchain Guidelines </a:t>
              </a:r>
            </a:p>
          </p:txBody>
        </p:sp>
        <p:sp>
          <p:nvSpPr>
            <p:cNvPr name="TextBox 12" id="12"/>
            <p:cNvSpPr txBox="true"/>
            <p:nvPr/>
          </p:nvSpPr>
          <p:spPr>
            <a:xfrm rot="0">
              <a:off x="0" y="687538"/>
              <a:ext cx="7112048" cy="1282197"/>
            </a:xfrm>
            <a:prstGeom prst="rect">
              <a:avLst/>
            </a:prstGeom>
          </p:spPr>
          <p:txBody>
            <a:bodyPr anchor="t" rtlCol="false" tIns="0" lIns="0" bIns="0" rIns="0">
              <a:spAutoFit/>
            </a:bodyPr>
            <a:lstStyle/>
            <a:p>
              <a:pPr algn="l">
                <a:lnSpc>
                  <a:spcPts val="2520"/>
                </a:lnSpc>
              </a:pPr>
              <a:r>
                <a:rPr lang="en-US" sz="1800">
                  <a:solidFill>
                    <a:srgbClr val="2B2B2B"/>
                  </a:solidFill>
                  <a:latin typeface="Agrandir"/>
                  <a:ea typeface="Agrandir"/>
                  <a:cs typeface="Agrandir"/>
                  <a:sym typeface="Agrandir"/>
                </a:rPr>
                <a:t>Directives du NIST pour la sécurité, l'identité, et la confidentialité dans les applications blockchain.</a:t>
              </a:r>
            </a:p>
            <a:p>
              <a:pPr algn="l" marL="0" indent="0" lvl="0">
                <a:lnSpc>
                  <a:spcPts val="2520"/>
                </a:lnSpc>
              </a:pPr>
            </a:p>
          </p:txBody>
        </p:sp>
      </p:grpSp>
      <p:grpSp>
        <p:nvGrpSpPr>
          <p:cNvPr name="Group 13" id="13"/>
          <p:cNvGrpSpPr/>
          <p:nvPr/>
        </p:nvGrpSpPr>
        <p:grpSpPr>
          <a:xfrm rot="0">
            <a:off x="10487007" y="6240356"/>
            <a:ext cx="5334036" cy="1791660"/>
            <a:chOff x="0" y="0"/>
            <a:chExt cx="7112048" cy="2388879"/>
          </a:xfrm>
        </p:grpSpPr>
        <p:sp>
          <p:nvSpPr>
            <p:cNvPr name="TextBox 14" id="14"/>
            <p:cNvSpPr txBox="true"/>
            <p:nvPr/>
          </p:nvSpPr>
          <p:spPr>
            <a:xfrm rot="0">
              <a:off x="0" y="-104775"/>
              <a:ext cx="7112048" cy="551057"/>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2B2B2B"/>
                  </a:solidFill>
                  <a:latin typeface="Agrandir Bold"/>
                  <a:ea typeface="Agrandir Bold"/>
                  <a:cs typeface="Agrandir Bold"/>
                  <a:sym typeface="Agrandir Bold"/>
                </a:rPr>
                <a:t>Gestion de la cryptographie</a:t>
              </a:r>
            </a:p>
          </p:txBody>
        </p:sp>
        <p:sp>
          <p:nvSpPr>
            <p:cNvPr name="TextBox 15" id="15"/>
            <p:cNvSpPr txBox="true"/>
            <p:nvPr/>
          </p:nvSpPr>
          <p:spPr>
            <a:xfrm rot="0">
              <a:off x="0" y="687538"/>
              <a:ext cx="7112048" cy="1701342"/>
            </a:xfrm>
            <a:prstGeom prst="rect">
              <a:avLst/>
            </a:prstGeom>
          </p:spPr>
          <p:txBody>
            <a:bodyPr anchor="t" rtlCol="false" tIns="0" lIns="0" bIns="0" rIns="0">
              <a:spAutoFit/>
            </a:bodyPr>
            <a:lstStyle/>
            <a:p>
              <a:pPr algn="l" marL="0" indent="0" lvl="0">
                <a:lnSpc>
                  <a:spcPts val="2520"/>
                </a:lnSpc>
              </a:pPr>
              <a:r>
                <a:rPr lang="en-US" sz="1800">
                  <a:solidFill>
                    <a:srgbClr val="2B2B2B"/>
                  </a:solidFill>
                  <a:latin typeface="Agrandir"/>
                  <a:ea typeface="Agrandir"/>
                  <a:cs typeface="Agrandir"/>
                  <a:sym typeface="Agrandir"/>
                </a:rPr>
                <a:t>Utilisation de normes robustes pour le chiffrement (SHA-256, ECC) et la gestion sécurisée des clés privées (HSM, multi-signatures).</a:t>
              </a:r>
            </a:p>
          </p:txBody>
        </p:sp>
      </p:grpSp>
      <p:pic>
        <p:nvPicPr>
          <p:cNvPr name="Picture 16" id="16"/>
          <p:cNvPicPr>
            <a:picLocks noChangeAspect="true"/>
          </p:cNvPicPr>
          <p:nvPr/>
        </p:nvPicPr>
        <p:blipFill>
          <a:blip r:embed="rId3"/>
          <a:srcRect l="0" t="0" r="0" b="0"/>
          <a:stretch>
            <a:fillRect/>
          </a:stretch>
        </p:blipFill>
        <p:spPr>
          <a:xfrm flipH="false" flipV="false" rot="-386738">
            <a:off x="16004945" y="-2793059"/>
            <a:ext cx="4566109" cy="5789174"/>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5000"/>
          </a:blip>
          <a:srcRect l="0" t="0" r="0" b="0"/>
          <a:stretch>
            <a:fillRect/>
          </a:stretch>
        </p:blipFill>
        <p:spPr>
          <a:xfrm flipH="false" flipV="false" rot="0">
            <a:off x="-1662681" y="-6438340"/>
            <a:ext cx="13761077" cy="14153590"/>
          </a:xfrm>
          <a:prstGeom prst="rect">
            <a:avLst/>
          </a:prstGeom>
        </p:spPr>
      </p:pic>
      <p:grpSp>
        <p:nvGrpSpPr>
          <p:cNvPr name="Group 3" id="3"/>
          <p:cNvGrpSpPr/>
          <p:nvPr/>
        </p:nvGrpSpPr>
        <p:grpSpPr>
          <a:xfrm rot="0">
            <a:off x="5682537" y="6661917"/>
            <a:ext cx="8465475" cy="1848677"/>
            <a:chOff x="0" y="0"/>
            <a:chExt cx="11287299" cy="2464903"/>
          </a:xfrm>
        </p:grpSpPr>
        <p:sp>
          <p:nvSpPr>
            <p:cNvPr name="TextBox 4" id="4"/>
            <p:cNvSpPr txBox="true"/>
            <p:nvPr/>
          </p:nvSpPr>
          <p:spPr>
            <a:xfrm rot="0">
              <a:off x="0" y="-190500"/>
              <a:ext cx="11287299" cy="1600200"/>
            </a:xfrm>
            <a:prstGeom prst="rect">
              <a:avLst/>
            </a:prstGeom>
          </p:spPr>
          <p:txBody>
            <a:bodyPr anchor="t" rtlCol="false" tIns="0" lIns="0" bIns="0" rIns="0">
              <a:spAutoFit/>
            </a:bodyPr>
            <a:lstStyle/>
            <a:p>
              <a:pPr algn="ctr" marL="0" indent="0" lvl="0">
                <a:lnSpc>
                  <a:spcPts val="8399"/>
                </a:lnSpc>
                <a:spcBef>
                  <a:spcPct val="0"/>
                </a:spcBef>
              </a:pPr>
              <a:r>
                <a:rPr lang="en-US" sz="6999" u="none">
                  <a:solidFill>
                    <a:srgbClr val="2B2B2B"/>
                  </a:solidFill>
                  <a:latin typeface="Agrandir"/>
                  <a:ea typeface="Agrandir"/>
                  <a:cs typeface="Agrandir"/>
                  <a:sym typeface="Agrandir"/>
                </a:rPr>
                <a:t>Merci !</a:t>
              </a:r>
            </a:p>
          </p:txBody>
        </p:sp>
        <p:sp>
          <p:nvSpPr>
            <p:cNvPr name="TextBox 5" id="5"/>
            <p:cNvSpPr txBox="true"/>
            <p:nvPr/>
          </p:nvSpPr>
          <p:spPr>
            <a:xfrm rot="0">
              <a:off x="0" y="1819487"/>
              <a:ext cx="11287299" cy="645415"/>
            </a:xfrm>
            <a:prstGeom prst="rect">
              <a:avLst/>
            </a:prstGeom>
          </p:spPr>
          <p:txBody>
            <a:bodyPr anchor="t" rtlCol="false" tIns="0" lIns="0" bIns="0" rIns="0">
              <a:spAutoFit/>
            </a:bodyPr>
            <a:lstStyle/>
            <a:p>
              <a:pPr algn="ctr" marL="0" indent="0" lvl="0">
                <a:lnSpc>
                  <a:spcPts val="3640"/>
                </a:lnSpc>
              </a:pPr>
            </a:p>
          </p:txBody>
        </p:sp>
      </p:grpSp>
      <p:pic>
        <p:nvPicPr>
          <p:cNvPr name="Picture 6" id="6"/>
          <p:cNvPicPr>
            <a:picLocks noChangeAspect="true"/>
          </p:cNvPicPr>
          <p:nvPr/>
        </p:nvPicPr>
        <p:blipFill>
          <a:blip r:embed="rId3">
            <a:alphaModFix amt="25000"/>
          </a:blip>
          <a:srcRect l="0" t="0" r="0" b="0"/>
          <a:stretch>
            <a:fillRect/>
          </a:stretch>
        </p:blipFill>
        <p:spPr>
          <a:xfrm flipH="false" flipV="false" rot="0">
            <a:off x="11511932" y="6947324"/>
            <a:ext cx="8674222" cy="7652259"/>
          </a:xfrm>
          <a:prstGeom prst="rect">
            <a:avLst/>
          </a:prstGeom>
        </p:spPr>
      </p:pic>
      <p:pic>
        <p:nvPicPr>
          <p:cNvPr name="Picture 7" id="7"/>
          <p:cNvPicPr>
            <a:picLocks noChangeAspect="true"/>
          </p:cNvPicPr>
          <p:nvPr/>
        </p:nvPicPr>
        <p:blipFill>
          <a:blip r:embed="rId4">
            <a:alphaModFix amt="25000"/>
          </a:blip>
          <a:srcRect l="0" t="0" r="0" b="0"/>
          <a:stretch>
            <a:fillRect/>
          </a:stretch>
        </p:blipFill>
        <p:spPr>
          <a:xfrm flipH="false" flipV="false" rot="0">
            <a:off x="15141061" y="2810706"/>
            <a:ext cx="6293877" cy="5612932"/>
          </a:xfrm>
          <a:prstGeom prst="rect">
            <a:avLst/>
          </a:prstGeom>
        </p:spPr>
      </p:pic>
      <p:pic>
        <p:nvPicPr>
          <p:cNvPr name="Picture 8" id="8"/>
          <p:cNvPicPr>
            <a:picLocks noChangeAspect="true"/>
          </p:cNvPicPr>
          <p:nvPr/>
        </p:nvPicPr>
        <p:blipFill>
          <a:blip r:embed="rId5">
            <a:alphaModFix amt="25000"/>
          </a:blip>
          <a:srcRect l="0" t="0" r="0" b="0"/>
          <a:stretch>
            <a:fillRect/>
          </a:stretch>
        </p:blipFill>
        <p:spPr>
          <a:xfrm flipH="false" flipV="false" rot="-3435299">
            <a:off x="-3167656" y="638455"/>
            <a:ext cx="6335313" cy="7076795"/>
          </a:xfrm>
          <a:prstGeom prst="rect">
            <a:avLst/>
          </a:prstGeom>
        </p:spPr>
      </p:pic>
      <p:sp>
        <p:nvSpPr>
          <p:cNvPr name="TextBox 9" id="9"/>
          <p:cNvSpPr txBox="true"/>
          <p:nvPr/>
        </p:nvSpPr>
        <p:spPr>
          <a:xfrm rot="0">
            <a:off x="5682537" y="2012322"/>
            <a:ext cx="8465475" cy="2801183"/>
          </a:xfrm>
          <a:prstGeom prst="rect">
            <a:avLst/>
          </a:prstGeom>
        </p:spPr>
        <p:txBody>
          <a:bodyPr anchor="t" rtlCol="false" tIns="0" lIns="0" bIns="0" rIns="0">
            <a:spAutoFit/>
          </a:bodyPr>
          <a:lstStyle/>
          <a:p>
            <a:pPr algn="ctr" marL="0" indent="0" lvl="0">
              <a:lnSpc>
                <a:spcPts val="3640"/>
              </a:lnSpc>
            </a:pPr>
            <a:r>
              <a:rPr lang="en-US" sz="2600">
                <a:solidFill>
                  <a:srgbClr val="2B2B2B"/>
                </a:solidFill>
                <a:latin typeface="Agrandir"/>
                <a:ea typeface="Agrandir"/>
                <a:cs typeface="Agrandir"/>
                <a:sym typeface="Agrandir"/>
              </a:rPr>
              <a:t>Le développement d’applications basées sur la blockchain fait face à de nombreux défis et enjeux en matière de sécurité. L’adoption des bonnes pratiques et des normes de sécurité permet de conserver leur intégrité et de préserver les utilisateurs de ces applications.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DAGWF__8tss</dc:identifier>
  <dcterms:modified xsi:type="dcterms:W3CDTF">2011-08-01T06:04:30Z</dcterms:modified>
  <cp:revision>1</cp:revision>
  <dc:title>Mon Exposé Blockhain</dc:title>
</cp:coreProperties>
</file>